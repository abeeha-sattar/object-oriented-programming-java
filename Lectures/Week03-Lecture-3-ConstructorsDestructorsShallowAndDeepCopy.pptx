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notesMasterIdLst>
    <p:notesMasterId r:id="rId44"/>
  </p:notesMasterIdLst>
  <p:sldIdLst>
    <p:sldId id="256" r:id="rId2"/>
    <p:sldId id="268" r:id="rId3"/>
    <p:sldId id="328" r:id="rId4"/>
    <p:sldId id="329" r:id="rId5"/>
    <p:sldId id="330" r:id="rId6"/>
    <p:sldId id="331" r:id="rId7"/>
    <p:sldId id="332" r:id="rId8"/>
    <p:sldId id="333" r:id="rId9"/>
    <p:sldId id="334" r:id="rId10"/>
    <p:sldId id="335" r:id="rId11"/>
    <p:sldId id="336" r:id="rId12"/>
    <p:sldId id="337" r:id="rId13"/>
    <p:sldId id="338" r:id="rId14"/>
    <p:sldId id="339" r:id="rId15"/>
    <p:sldId id="340" r:id="rId16"/>
    <p:sldId id="341" r:id="rId17"/>
    <p:sldId id="342" r:id="rId18"/>
    <p:sldId id="343" r:id="rId19"/>
    <p:sldId id="344" r:id="rId20"/>
    <p:sldId id="345" r:id="rId21"/>
    <p:sldId id="346" r:id="rId22"/>
    <p:sldId id="347" r:id="rId23"/>
    <p:sldId id="350" r:id="rId24"/>
    <p:sldId id="348" r:id="rId25"/>
    <p:sldId id="353" r:id="rId26"/>
    <p:sldId id="349" r:id="rId27"/>
    <p:sldId id="359" r:id="rId28"/>
    <p:sldId id="360" r:id="rId29"/>
    <p:sldId id="361" r:id="rId30"/>
    <p:sldId id="362" r:id="rId31"/>
    <p:sldId id="363" r:id="rId32"/>
    <p:sldId id="351" r:id="rId33"/>
    <p:sldId id="352" r:id="rId34"/>
    <p:sldId id="354" r:id="rId35"/>
    <p:sldId id="355" r:id="rId36"/>
    <p:sldId id="356" r:id="rId37"/>
    <p:sldId id="357" r:id="rId38"/>
    <p:sldId id="364" r:id="rId39"/>
    <p:sldId id="365" r:id="rId40"/>
    <p:sldId id="358" r:id="rId41"/>
    <p:sldId id="366" r:id="rId42"/>
    <p:sldId id="327" r:id="rId4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083983-76FC-45E4-9D2E-5BF600E779F7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D00A8A-A788-4087-8DDE-D7AAB497B0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0094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59EB5-A579-4B4A-96F2-3926C69A35BB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C26B0-367A-440C-A9B2-1626900041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9586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59EB5-A579-4B4A-96F2-3926C69A35BB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C26B0-367A-440C-A9B2-1626900041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9653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59EB5-A579-4B4A-96F2-3926C69A35BB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C26B0-367A-440C-A9B2-1626900041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2696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59EB5-A579-4B4A-96F2-3926C69A35BB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C26B0-367A-440C-A9B2-1626900041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3546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59EB5-A579-4B4A-96F2-3926C69A35BB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C26B0-367A-440C-A9B2-1626900041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8419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59EB5-A579-4B4A-96F2-3926C69A35BB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C26B0-367A-440C-A9B2-1626900041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3044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59EB5-A579-4B4A-96F2-3926C69A35BB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C26B0-367A-440C-A9B2-1626900041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5371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59EB5-A579-4B4A-96F2-3926C69A35BB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C26B0-367A-440C-A9B2-1626900041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0850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97A59EB5-A579-4B4A-96F2-3926C69A35BB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EC3C26B0-367A-440C-A9B2-1626900041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2369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59EB5-A579-4B4A-96F2-3926C69A35BB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C26B0-367A-440C-A9B2-1626900041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2758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59EB5-A579-4B4A-96F2-3926C69A35BB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C26B0-367A-440C-A9B2-1626900041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032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59EB5-A579-4B4A-96F2-3926C69A35BB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C26B0-367A-440C-A9B2-1626900041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067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59EB5-A579-4B4A-96F2-3926C69A35BB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C26B0-367A-440C-A9B2-1626900041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8005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59EB5-A579-4B4A-96F2-3926C69A35BB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C26B0-367A-440C-A9B2-1626900041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4843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97A59EB5-A579-4B4A-96F2-3926C69A35BB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EC3C26B0-367A-440C-A9B2-1626900041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59643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</p:sldLayoutIdLst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C798B-A91E-ED1A-F4C6-5031904AFD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722636" cy="2971051"/>
          </a:xfrm>
        </p:spPr>
        <p:txBody>
          <a:bodyPr/>
          <a:lstStyle/>
          <a:p>
            <a:pPr algn="ctr"/>
            <a:r>
              <a:rPr lang="en-US" dirty="0"/>
              <a:t>Introduction to Object-Oriented Programming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31EF6E-E43C-AEED-3DC0-2B9095517F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 Abeeha Sattar</a:t>
            </a:r>
          </a:p>
        </p:txBody>
      </p:sp>
    </p:spTree>
    <p:extLst>
      <p:ext uri="{BB962C8B-B14F-4D97-AF65-F5344CB8AC3E}">
        <p14:creationId xmlns:p14="http://schemas.microsoft.com/office/powerpoint/2010/main" val="19130565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FCE8D-85C0-AF72-5EBE-09E9E2B3D3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Constructors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6BEB7C-00A7-82D0-2742-8CEF7B7D69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A constructor is a </a:t>
            </a:r>
            <a:r>
              <a:rPr lang="en-US" b="1" dirty="0"/>
              <a:t>member</a:t>
            </a:r>
            <a:r>
              <a:rPr lang="en-US" dirty="0"/>
              <a:t> </a:t>
            </a:r>
            <a:r>
              <a:rPr lang="en-US" b="1" dirty="0"/>
              <a:t>function</a:t>
            </a:r>
            <a:r>
              <a:rPr lang="en-US" dirty="0"/>
              <a:t> of a class and it has the same name as the class.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A constructor is called when you write the new statement.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E.g., Student s = new Student(); </a:t>
            </a:r>
            <a:r>
              <a:rPr lang="en-US" b="1" dirty="0"/>
              <a:t>//Student() is the constructor here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Constructors are used to initialize objects.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A constructor </a:t>
            </a:r>
            <a:r>
              <a:rPr lang="en-US" b="1" dirty="0"/>
              <a:t>must</a:t>
            </a:r>
            <a:r>
              <a:rPr lang="en-US" dirty="0"/>
              <a:t> have the same name as the class of which it is a member.</a:t>
            </a:r>
          </a:p>
          <a:p>
            <a:pPr>
              <a:buFont typeface="Courier New" panose="02070309020205020404" pitchFamily="49" charset="0"/>
              <a:buChar char="o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20170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0812E-EA32-8B0B-0708-D2CB921DA1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712" y="680453"/>
            <a:ext cx="10571998" cy="970450"/>
          </a:xfrm>
        </p:spPr>
        <p:txBody>
          <a:bodyPr/>
          <a:lstStyle/>
          <a:p>
            <a:r>
              <a:rPr lang="en-US" dirty="0"/>
              <a:t>How are constructors different from member functions?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7B9B97-37F1-D1A1-5D85-F7EBBE5F5B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They have the same name as the class</a:t>
            </a:r>
          </a:p>
          <a:p>
            <a:r>
              <a:rPr lang="en-US" dirty="0"/>
              <a:t>They don’t have a return type</a:t>
            </a:r>
          </a:p>
          <a:p>
            <a:r>
              <a:rPr lang="en-US" dirty="0"/>
              <a:t>Compilers usually create a default constructor if we haven’t declared any constructors.</a:t>
            </a:r>
          </a:p>
          <a:p>
            <a:pPr lvl="1"/>
            <a:r>
              <a:rPr lang="en-US" dirty="0"/>
              <a:t>You must make a default constructor yourself if you have made any additional constructors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54151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76B57-2D6E-C0FC-A53D-EA1C28B13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Constructors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2F3F5E-98B2-632D-BE58-59651C19A5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Default Constructor</a:t>
            </a:r>
          </a:p>
          <a:p>
            <a:pPr lvl="1"/>
            <a:r>
              <a:rPr lang="en-US" dirty="0"/>
              <a:t>A constructor without any arguments (aka, without any parameters)</a:t>
            </a:r>
          </a:p>
          <a:p>
            <a:r>
              <a:rPr lang="en-US" dirty="0"/>
              <a:t>Parameterized Constructor</a:t>
            </a:r>
          </a:p>
          <a:p>
            <a:pPr lvl="1"/>
            <a:r>
              <a:rPr lang="en-US" dirty="0"/>
              <a:t>A constructor that can accept arguments/parameters</a:t>
            </a:r>
          </a:p>
          <a:p>
            <a:pPr lvl="1"/>
            <a:r>
              <a:rPr lang="en-US" dirty="0"/>
              <a:t>The parameters are used to initialize the object</a:t>
            </a:r>
          </a:p>
          <a:p>
            <a:r>
              <a:rPr lang="en-US" dirty="0"/>
              <a:t>Copy Constructor</a:t>
            </a:r>
          </a:p>
          <a:p>
            <a:pPr lvl="1"/>
            <a:r>
              <a:rPr lang="en-US" dirty="0"/>
              <a:t>A constructor that initializes an object by using another object of the same class</a:t>
            </a:r>
          </a:p>
          <a:p>
            <a:pPr lvl="1"/>
            <a:r>
              <a:rPr lang="en-US" dirty="0"/>
              <a:t>It copies the values from the other object</a:t>
            </a:r>
          </a:p>
        </p:txBody>
      </p:sp>
    </p:spTree>
    <p:extLst>
      <p:ext uri="{BB962C8B-B14F-4D97-AF65-F5344CB8AC3E}">
        <p14:creationId xmlns:p14="http://schemas.microsoft.com/office/powerpoint/2010/main" val="18496111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28AC6-6C22-E89A-C37E-B7E8296EF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Default Constructor – if not declared…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39BD83-E60D-D64D-2572-02241C8B3D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4393117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class Cat {</a:t>
            </a:r>
          </a:p>
          <a:p>
            <a:pPr marL="0" indent="0">
              <a:buNone/>
            </a:pPr>
            <a:r>
              <a:rPr lang="en-US" b="1" dirty="0"/>
              <a:t>	private String name;</a:t>
            </a:r>
          </a:p>
          <a:p>
            <a:pPr marL="0" indent="0">
              <a:buNone/>
            </a:pPr>
            <a:r>
              <a:rPr lang="en-US" b="1" dirty="0"/>
              <a:t>	private int age;</a:t>
            </a:r>
          </a:p>
          <a:p>
            <a:pPr marL="0" indent="0">
              <a:buNone/>
            </a:pPr>
            <a:r>
              <a:rPr lang="en-US" b="1" dirty="0"/>
              <a:t>	private </a:t>
            </a:r>
            <a:r>
              <a:rPr lang="en-US" b="1" dirty="0" err="1"/>
              <a:t>boolean</a:t>
            </a:r>
            <a:r>
              <a:rPr lang="en-US" b="1" dirty="0"/>
              <a:t> </a:t>
            </a:r>
            <a:r>
              <a:rPr lang="en-US" b="1" dirty="0" err="1"/>
              <a:t>hungerStatus</a:t>
            </a:r>
            <a:r>
              <a:rPr lang="en-US" b="1" dirty="0"/>
              <a:t>;</a:t>
            </a:r>
          </a:p>
          <a:p>
            <a:pPr marL="0" indent="0">
              <a:buNone/>
            </a:pPr>
            <a:r>
              <a:rPr lang="en-US" b="1" dirty="0"/>
              <a:t>	private String[] </a:t>
            </a:r>
            <a:r>
              <a:rPr lang="en-US" b="1" dirty="0" err="1"/>
              <a:t>favToys</a:t>
            </a:r>
            <a:r>
              <a:rPr lang="en-US" b="1" dirty="0"/>
              <a:t>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	public void </a:t>
            </a:r>
            <a:r>
              <a:rPr lang="en-US" b="1" dirty="0" err="1"/>
              <a:t>showInfo</a:t>
            </a:r>
            <a:r>
              <a:rPr lang="en-US" b="1" dirty="0"/>
              <a:t>() {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 err="1"/>
              <a:t>System.</a:t>
            </a:r>
            <a:r>
              <a:rPr lang="en-US" b="1" i="1" dirty="0" err="1"/>
              <a:t>out.println</a:t>
            </a:r>
            <a:r>
              <a:rPr lang="en-US" b="1" i="1" dirty="0"/>
              <a:t>("Name: " + name);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 err="1"/>
              <a:t>System.</a:t>
            </a:r>
            <a:r>
              <a:rPr lang="en-US" b="1" i="1" dirty="0" err="1"/>
              <a:t>out.println</a:t>
            </a:r>
            <a:r>
              <a:rPr lang="en-US" b="1" i="1" dirty="0"/>
              <a:t>("Age: " + age);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 err="1"/>
              <a:t>System.</a:t>
            </a:r>
            <a:r>
              <a:rPr lang="en-US" b="1" i="1" dirty="0" err="1"/>
              <a:t>out.println</a:t>
            </a:r>
            <a:r>
              <a:rPr lang="en-US" b="1" i="1" dirty="0"/>
              <a:t>("Hunger Status: " + </a:t>
            </a:r>
            <a:r>
              <a:rPr lang="en-US" b="1" i="1" dirty="0" err="1"/>
              <a:t>hungerStatus</a:t>
            </a:r>
            <a:r>
              <a:rPr lang="en-US" b="1" i="1" dirty="0"/>
              <a:t>);</a:t>
            </a:r>
          </a:p>
          <a:p>
            <a:pPr marL="0" indent="0">
              <a:buNone/>
            </a:pPr>
            <a:r>
              <a:rPr lang="en-US" b="1" dirty="0"/>
              <a:t>		for (int </a:t>
            </a:r>
            <a:r>
              <a:rPr lang="en-US" b="1" dirty="0" err="1"/>
              <a:t>i</a:t>
            </a:r>
            <a:r>
              <a:rPr lang="en-US" b="1" dirty="0"/>
              <a:t> = 0; </a:t>
            </a:r>
            <a:r>
              <a:rPr lang="en-US" b="1" dirty="0" err="1"/>
              <a:t>i</a:t>
            </a:r>
            <a:r>
              <a:rPr lang="en-US" b="1" dirty="0"/>
              <a:t> &lt; </a:t>
            </a:r>
            <a:r>
              <a:rPr lang="en-US" b="1" dirty="0" err="1"/>
              <a:t>favToys.length</a:t>
            </a:r>
            <a:r>
              <a:rPr lang="en-US" b="1" dirty="0"/>
              <a:t>; </a:t>
            </a:r>
            <a:r>
              <a:rPr lang="en-US" b="1" dirty="0" err="1"/>
              <a:t>i</a:t>
            </a:r>
            <a:r>
              <a:rPr lang="en-US" b="1" dirty="0"/>
              <a:t>++)</a:t>
            </a:r>
          </a:p>
          <a:p>
            <a:pPr marL="0" indent="0">
              <a:buNone/>
            </a:pPr>
            <a:r>
              <a:rPr lang="en-US" dirty="0"/>
              <a:t>			</a:t>
            </a:r>
            <a:r>
              <a:rPr lang="en-US" dirty="0" err="1"/>
              <a:t>System.</a:t>
            </a:r>
            <a:r>
              <a:rPr lang="en-US" b="1" i="1" dirty="0" err="1"/>
              <a:t>out.println</a:t>
            </a:r>
            <a:r>
              <a:rPr lang="en-US" b="1" i="1" dirty="0"/>
              <a:t>(name + " likes " + </a:t>
            </a:r>
            <a:r>
              <a:rPr lang="en-US" b="1" i="1" dirty="0" err="1"/>
              <a:t>favToys</a:t>
            </a:r>
            <a:r>
              <a:rPr lang="en-US" b="1" i="1" dirty="0"/>
              <a:t>[</a:t>
            </a:r>
            <a:r>
              <a:rPr lang="en-US" b="1" i="1" dirty="0" err="1"/>
              <a:t>i</a:t>
            </a:r>
            <a:r>
              <a:rPr lang="en-US" b="1" i="1" dirty="0"/>
              <a:t>]);</a:t>
            </a:r>
          </a:p>
          <a:p>
            <a:pPr marL="0" indent="0">
              <a:buNone/>
            </a:pPr>
            <a:r>
              <a:rPr lang="en-US" dirty="0"/>
              <a:t>	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020195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0B644-96D7-6AEA-28B3-1F283B5E6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Output?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D68DDB-0B30-A129-21B8-5B91B70FFD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public class </a:t>
            </a:r>
            <a:r>
              <a:rPr lang="en-US" b="1" dirty="0" err="1"/>
              <a:t>ExampleConstructors</a:t>
            </a:r>
            <a:r>
              <a:rPr lang="en-US" b="1" dirty="0"/>
              <a:t> {</a:t>
            </a:r>
          </a:p>
          <a:p>
            <a:pPr marL="0" indent="0">
              <a:buNone/>
            </a:pPr>
            <a:r>
              <a:rPr lang="en-US" b="1" dirty="0"/>
              <a:t>	public static void main(String[] </a:t>
            </a:r>
            <a:r>
              <a:rPr lang="en-US" b="1" dirty="0" err="1"/>
              <a:t>args</a:t>
            </a:r>
            <a:r>
              <a:rPr lang="en-US" b="1" dirty="0"/>
              <a:t>) {</a:t>
            </a:r>
          </a:p>
          <a:p>
            <a:pPr marL="0" indent="0">
              <a:buNone/>
            </a:pPr>
            <a:r>
              <a:rPr lang="en-US" dirty="0"/>
              <a:t>		Cat </a:t>
            </a:r>
            <a:r>
              <a:rPr lang="en-US" dirty="0" err="1"/>
              <a:t>myCat</a:t>
            </a:r>
            <a:r>
              <a:rPr lang="en-US" dirty="0"/>
              <a:t> = </a:t>
            </a:r>
            <a:r>
              <a:rPr lang="en-US" b="1" dirty="0"/>
              <a:t>new Cat();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 err="1"/>
              <a:t>myCat.showInfo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	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3F19AB-94BB-EEAE-9BE3-CA3BAE5E93DB}"/>
              </a:ext>
            </a:extLst>
          </p:cNvPr>
          <p:cNvSpPr txBox="1"/>
          <p:nvPr/>
        </p:nvSpPr>
        <p:spPr>
          <a:xfrm>
            <a:off x="6578082" y="2222287"/>
            <a:ext cx="4803916" cy="369331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Name: null</a:t>
            </a:r>
          </a:p>
          <a:p>
            <a:r>
              <a:rPr lang="en-US" dirty="0"/>
              <a:t>Age: 0</a:t>
            </a:r>
          </a:p>
          <a:p>
            <a:r>
              <a:rPr lang="en-US" b="1" dirty="0">
                <a:solidFill>
                  <a:srgbClr val="FF0000"/>
                </a:solidFill>
              </a:rPr>
              <a:t>Exception in thread "main" </a:t>
            </a:r>
            <a:r>
              <a:rPr lang="en-US" dirty="0"/>
              <a:t>Hunger Status: false</a:t>
            </a:r>
          </a:p>
          <a:p>
            <a:r>
              <a:rPr lang="en-US" b="1" u="sng" dirty="0" err="1">
                <a:solidFill>
                  <a:srgbClr val="FF0000"/>
                </a:solidFill>
              </a:rPr>
              <a:t>java.lang.NullPointerException</a:t>
            </a:r>
            <a:r>
              <a:rPr lang="en-US" b="1" u="sng" dirty="0">
                <a:solidFill>
                  <a:srgbClr val="FF0000"/>
                </a:solidFill>
              </a:rPr>
              <a:t>: Cannot read the array length because "</a:t>
            </a:r>
            <a:r>
              <a:rPr lang="en-US" b="1" u="sng" dirty="0" err="1">
                <a:solidFill>
                  <a:srgbClr val="FF0000"/>
                </a:solidFill>
              </a:rPr>
              <a:t>this.favToys</a:t>
            </a:r>
            <a:r>
              <a:rPr lang="en-US" b="1" u="sng" dirty="0">
                <a:solidFill>
                  <a:srgbClr val="FF0000"/>
                </a:solidFill>
              </a:rPr>
              <a:t>" is null</a:t>
            </a:r>
          </a:p>
          <a:p>
            <a:r>
              <a:rPr lang="en-US" b="1" dirty="0">
                <a:solidFill>
                  <a:srgbClr val="FF0000"/>
                </a:solidFill>
              </a:rPr>
              <a:t>at </a:t>
            </a:r>
            <a:r>
              <a:rPr lang="en-US" b="1" dirty="0" err="1">
                <a:solidFill>
                  <a:srgbClr val="FF0000"/>
                </a:solidFill>
              </a:rPr>
              <a:t>ConstructorsDestructors.Cat.showInfo</a:t>
            </a:r>
            <a:r>
              <a:rPr lang="en-US" b="1" dirty="0">
                <a:solidFill>
                  <a:srgbClr val="FF0000"/>
                </a:solidFill>
              </a:rPr>
              <a:t>(</a:t>
            </a:r>
            <a:r>
              <a:rPr lang="en-US" b="1" u="sng" dirty="0">
                <a:solidFill>
                  <a:srgbClr val="FF0000"/>
                </a:solidFill>
              </a:rPr>
              <a:t>ExampleConstructors.java:13)</a:t>
            </a:r>
          </a:p>
          <a:p>
            <a:r>
              <a:rPr lang="en-US" b="1" dirty="0">
                <a:solidFill>
                  <a:srgbClr val="FF0000"/>
                </a:solidFill>
              </a:rPr>
              <a:t>at </a:t>
            </a:r>
            <a:r>
              <a:rPr lang="en-US" b="1" dirty="0" err="1">
                <a:solidFill>
                  <a:srgbClr val="FF0000"/>
                </a:solidFill>
              </a:rPr>
              <a:t>ConstructorsDestructors.ExampleConstructors.main</a:t>
            </a:r>
            <a:r>
              <a:rPr lang="en-US" b="1" dirty="0">
                <a:solidFill>
                  <a:srgbClr val="FF0000"/>
                </a:solidFill>
              </a:rPr>
              <a:t>(</a:t>
            </a:r>
            <a:r>
              <a:rPr lang="en-US" b="1" u="sng" dirty="0">
                <a:solidFill>
                  <a:srgbClr val="FF0000"/>
                </a:solidFill>
              </a:rPr>
              <a:t>ExampleConstructors.java:23)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8453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33EBD-A339-0B01-E2AB-2E0681B19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Output?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198854-F85C-785E-F513-2306C6B234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public class </a:t>
            </a:r>
            <a:r>
              <a:rPr lang="en-US" b="1" dirty="0" err="1"/>
              <a:t>ExampleConstructors</a:t>
            </a:r>
            <a:r>
              <a:rPr lang="en-US" b="1" dirty="0"/>
              <a:t> {</a:t>
            </a:r>
          </a:p>
          <a:p>
            <a:pPr marL="0" indent="0">
              <a:buNone/>
            </a:pPr>
            <a:r>
              <a:rPr lang="en-US" b="1" dirty="0"/>
              <a:t>	public static void main(String[] </a:t>
            </a:r>
            <a:r>
              <a:rPr lang="en-US" b="1" dirty="0" err="1"/>
              <a:t>args</a:t>
            </a:r>
            <a:r>
              <a:rPr lang="en-US" b="1" dirty="0"/>
              <a:t>) {</a:t>
            </a:r>
          </a:p>
          <a:p>
            <a:pPr marL="0" indent="0">
              <a:buNone/>
            </a:pPr>
            <a:r>
              <a:rPr lang="en-US" dirty="0"/>
              <a:t>		Cat </a:t>
            </a:r>
            <a:r>
              <a:rPr lang="en-US" dirty="0" err="1"/>
              <a:t>myCat</a:t>
            </a:r>
            <a:r>
              <a:rPr lang="en-US" dirty="0"/>
              <a:t> = </a:t>
            </a:r>
            <a:r>
              <a:rPr lang="en-US" b="1" dirty="0"/>
              <a:t>new Cat();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 err="1"/>
              <a:t>myCat.showInfo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	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BC784B-4E70-1532-30A9-7FBB8D9F8379}"/>
              </a:ext>
            </a:extLst>
          </p:cNvPr>
          <p:cNvSpPr txBox="1"/>
          <p:nvPr/>
        </p:nvSpPr>
        <p:spPr>
          <a:xfrm>
            <a:off x="6511419" y="2470881"/>
            <a:ext cx="4534677" cy="313932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Compiler defined default constructor is called here, which does absolutely nothing.</a:t>
            </a:r>
          </a:p>
          <a:p>
            <a:endParaRPr lang="en-US" dirty="0"/>
          </a:p>
          <a:p>
            <a:r>
              <a:rPr lang="en-US" dirty="0"/>
              <a:t>We get a null pointer exception when checking the length for the string array, because it was never initialized.</a:t>
            </a:r>
          </a:p>
          <a:p>
            <a:endParaRPr lang="en-US" dirty="0"/>
          </a:p>
          <a:p>
            <a:r>
              <a:rPr lang="en-US" dirty="0"/>
              <a:t>Whenever you access uninitialized non-primitives, you will run into this problem.</a:t>
            </a:r>
          </a:p>
        </p:txBody>
      </p:sp>
    </p:spTree>
    <p:extLst>
      <p:ext uri="{BB962C8B-B14F-4D97-AF65-F5344CB8AC3E}">
        <p14:creationId xmlns:p14="http://schemas.microsoft.com/office/powerpoint/2010/main" val="1162899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A8BD6-B4CB-811B-3DCE-80AA3BA9D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So… We should define our own…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2F9FEC-9CFD-91D7-1ECE-8D6B104AEC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4001231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//this goes inside Cat class</a:t>
            </a:r>
          </a:p>
          <a:p>
            <a:pPr marL="0" indent="0">
              <a:buNone/>
            </a:pPr>
            <a:r>
              <a:rPr lang="en-US" b="1" dirty="0"/>
              <a:t>public Cat() {</a:t>
            </a:r>
          </a:p>
          <a:p>
            <a:pPr marL="0" indent="0">
              <a:buNone/>
            </a:pPr>
            <a:r>
              <a:rPr lang="en-US" dirty="0"/>
              <a:t>	name = "";</a:t>
            </a:r>
          </a:p>
          <a:p>
            <a:pPr marL="0" indent="0">
              <a:buNone/>
            </a:pPr>
            <a:r>
              <a:rPr lang="en-US" dirty="0"/>
              <a:t>	age = 0;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hungerStatus</a:t>
            </a:r>
            <a:r>
              <a:rPr lang="en-US" dirty="0"/>
              <a:t> = </a:t>
            </a:r>
            <a:r>
              <a:rPr lang="en-US" b="1" dirty="0"/>
              <a:t>false;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favToys</a:t>
            </a:r>
            <a:r>
              <a:rPr lang="en-US" dirty="0"/>
              <a:t> = </a:t>
            </a:r>
            <a:r>
              <a:rPr lang="en-US" b="1" dirty="0"/>
              <a:t>new String[] {"", "", ""};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chemeClr val="accent1"/>
                </a:solidFill>
              </a:rPr>
              <a:t>What’s the output  now?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9611A4-6376-C8E6-D90A-8148155CE33D}"/>
              </a:ext>
            </a:extLst>
          </p:cNvPr>
          <p:cNvSpPr txBox="1"/>
          <p:nvPr/>
        </p:nvSpPr>
        <p:spPr>
          <a:xfrm>
            <a:off x="7324531" y="2477906"/>
            <a:ext cx="2799183" cy="175432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Name: </a:t>
            </a:r>
          </a:p>
          <a:p>
            <a:r>
              <a:rPr lang="en-US" dirty="0"/>
              <a:t>Age: 0</a:t>
            </a:r>
          </a:p>
          <a:p>
            <a:r>
              <a:rPr lang="en-US" dirty="0"/>
              <a:t>Hunger Status: false</a:t>
            </a:r>
          </a:p>
          <a:p>
            <a:r>
              <a:rPr lang="en-US" dirty="0"/>
              <a:t> like </a:t>
            </a:r>
          </a:p>
          <a:p>
            <a:r>
              <a:rPr lang="en-US" dirty="0"/>
              <a:t> like </a:t>
            </a:r>
          </a:p>
          <a:p>
            <a:r>
              <a:rPr lang="en-US" dirty="0"/>
              <a:t> like </a:t>
            </a:r>
          </a:p>
        </p:txBody>
      </p:sp>
    </p:spTree>
    <p:extLst>
      <p:ext uri="{BB962C8B-B14F-4D97-AF65-F5344CB8AC3E}">
        <p14:creationId xmlns:p14="http://schemas.microsoft.com/office/powerpoint/2010/main" val="26595216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E07C8-2BBF-289A-8FAD-A9472FC5C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Lil’ Bit more about Constructors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1B88E3-22D3-99AC-270D-AA8A56D73A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Compilers provide a default constructor implicitly (except when you provide more constructors)</a:t>
            </a:r>
          </a:p>
          <a:p>
            <a:r>
              <a:rPr lang="en-US" dirty="0"/>
              <a:t>You may not see it, but they exist.</a:t>
            </a:r>
          </a:p>
          <a:p>
            <a:r>
              <a:rPr lang="en-US" dirty="0"/>
              <a:t>A constructor is necessary to create an object!</a:t>
            </a:r>
          </a:p>
          <a:p>
            <a:endParaRPr lang="en-US" dirty="0"/>
          </a:p>
          <a:p>
            <a:r>
              <a:rPr lang="en-US" dirty="0"/>
              <a:t>What happens if you make a constructor private?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CF60AC-AE03-ACB6-078C-66EC47DECB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1024" y="4408782"/>
            <a:ext cx="5249008" cy="1810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6927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92B21-766C-CB46-9E8E-AD6A2BF4F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Parameterized Constructor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557F41-E90A-F1A6-7BEB-56BF9ABD40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an object is declared using a parameterized constructor, the initial values have to be passed as arguments to the constructor function.</a:t>
            </a:r>
          </a:p>
          <a:p>
            <a:endParaRPr lang="en-US" dirty="0"/>
          </a:p>
          <a:p>
            <a:r>
              <a:rPr lang="en-US" dirty="0"/>
              <a:t>There can be multiple constructors in a class – This is </a:t>
            </a:r>
            <a:r>
              <a:rPr lang="en-US" b="1" dirty="0"/>
              <a:t>Constructor</a:t>
            </a:r>
            <a:r>
              <a:rPr lang="en-US" dirty="0"/>
              <a:t> </a:t>
            </a:r>
            <a:r>
              <a:rPr lang="en-US" b="1" dirty="0"/>
              <a:t>Overloading</a:t>
            </a:r>
          </a:p>
          <a:p>
            <a:r>
              <a:rPr lang="en-US" dirty="0"/>
              <a:t>There can be multiple parameterized ones as well!</a:t>
            </a:r>
          </a:p>
        </p:txBody>
      </p:sp>
    </p:spTree>
    <p:extLst>
      <p:ext uri="{BB962C8B-B14F-4D97-AF65-F5344CB8AC3E}">
        <p14:creationId xmlns:p14="http://schemas.microsoft.com/office/powerpoint/2010/main" val="5117643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FB3C7-ADF1-CFBF-92E6-1F516AA25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define some for our Cat!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349BBA-A1FF-EE97-B435-BFBFC65683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public</a:t>
            </a:r>
            <a:r>
              <a:rPr lang="en-US" dirty="0"/>
              <a:t> </a:t>
            </a:r>
            <a:r>
              <a:rPr lang="en-US" b="1" dirty="0"/>
              <a:t>Cat</a:t>
            </a:r>
            <a:r>
              <a:rPr lang="en-US" dirty="0"/>
              <a:t>(</a:t>
            </a:r>
            <a:r>
              <a:rPr lang="en-US" b="1" dirty="0"/>
              <a:t>String</a:t>
            </a:r>
            <a:r>
              <a:rPr lang="en-US" dirty="0"/>
              <a:t> name, </a:t>
            </a:r>
            <a:r>
              <a:rPr lang="en-US" b="1" dirty="0"/>
              <a:t>int</a:t>
            </a:r>
            <a:r>
              <a:rPr lang="en-US" dirty="0"/>
              <a:t> age, </a:t>
            </a:r>
            <a:r>
              <a:rPr lang="en-US" b="1" dirty="0" err="1"/>
              <a:t>boolean</a:t>
            </a:r>
            <a:r>
              <a:rPr lang="en-US" dirty="0"/>
              <a:t> </a:t>
            </a:r>
            <a:r>
              <a:rPr lang="en-US" dirty="0" err="1"/>
              <a:t>hungerStatus</a:t>
            </a:r>
            <a:r>
              <a:rPr lang="en-US" dirty="0"/>
              <a:t>, </a:t>
            </a:r>
            <a:r>
              <a:rPr lang="en-US" b="1" dirty="0"/>
              <a:t>String</a:t>
            </a:r>
            <a:r>
              <a:rPr lang="en-US" dirty="0"/>
              <a:t>[] </a:t>
            </a:r>
            <a:r>
              <a:rPr lang="en-US" dirty="0" err="1"/>
              <a:t>favToys</a:t>
            </a:r>
            <a:r>
              <a:rPr lang="en-US" dirty="0"/>
              <a:t>) {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b="1" dirty="0"/>
              <a:t>name</a:t>
            </a:r>
            <a:r>
              <a:rPr lang="en-US" dirty="0"/>
              <a:t> = </a:t>
            </a:r>
            <a:r>
              <a:rPr lang="en-US" b="1" dirty="0"/>
              <a:t>name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b="1" dirty="0"/>
              <a:t>age</a:t>
            </a:r>
            <a:r>
              <a:rPr lang="en-US" dirty="0"/>
              <a:t> = </a:t>
            </a:r>
            <a:r>
              <a:rPr lang="en-US" b="1" dirty="0"/>
              <a:t>age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b="1" dirty="0" err="1"/>
              <a:t>hungerStatus</a:t>
            </a:r>
            <a:r>
              <a:rPr lang="en-US" dirty="0"/>
              <a:t> = </a:t>
            </a:r>
            <a:r>
              <a:rPr lang="en-US" b="1" dirty="0" err="1"/>
              <a:t>hungerStatus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b="1" dirty="0" err="1"/>
              <a:t>favToys</a:t>
            </a:r>
            <a:r>
              <a:rPr lang="en-US" dirty="0"/>
              <a:t> = </a:t>
            </a:r>
            <a:r>
              <a:rPr lang="en-US" b="1" dirty="0" err="1"/>
              <a:t>favToys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		</a:t>
            </a:r>
          </a:p>
          <a:p>
            <a:pPr marL="0" indent="0">
              <a:buNone/>
            </a:pPr>
            <a:r>
              <a:rPr lang="en-US" dirty="0"/>
              <a:t>	}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84DCA9-6D0C-F6E8-D45D-573758D991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9" y="3577574"/>
            <a:ext cx="3991532" cy="1886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55830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C5EDA-4A17-AD1A-44E1-7E5F7C0F0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“this” Keyword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AA7A27-54BB-3C30-5064-499BAD93BD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this</a:t>
            </a:r>
            <a:r>
              <a:rPr lang="en-US" dirty="0"/>
              <a:t> means “the current object.”</a:t>
            </a:r>
          </a:p>
          <a:p>
            <a:r>
              <a:rPr lang="en-US" dirty="0"/>
              <a:t>“the object that is calling this method right now.”</a:t>
            </a:r>
          </a:p>
          <a:p>
            <a:endParaRPr lang="en-US" dirty="0"/>
          </a:p>
          <a:p>
            <a:r>
              <a:rPr lang="en-US" b="1" dirty="0"/>
              <a:t>this.name </a:t>
            </a:r>
            <a:r>
              <a:rPr lang="en-US" dirty="0"/>
              <a:t>→ </a:t>
            </a:r>
            <a:r>
              <a:rPr lang="en-US" i="1" dirty="0"/>
              <a:t>this object’s name</a:t>
            </a:r>
          </a:p>
          <a:p>
            <a:r>
              <a:rPr lang="en-US" b="1" dirty="0" err="1"/>
              <a:t>this.age</a:t>
            </a:r>
            <a:r>
              <a:rPr lang="en-US" b="1" dirty="0"/>
              <a:t> </a:t>
            </a:r>
            <a:r>
              <a:rPr lang="en-US" dirty="0"/>
              <a:t>→ </a:t>
            </a:r>
            <a:r>
              <a:rPr lang="en-US" i="1" dirty="0"/>
              <a:t>this object’s age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87974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31F99-CC33-21ED-500C-EA41BD7C3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Applying Fixes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07A94A-D723-986B-D6A7-575B009E04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public Cat(String name, int age, </a:t>
            </a:r>
            <a:r>
              <a:rPr lang="en-US" dirty="0" err="1"/>
              <a:t>boolean</a:t>
            </a:r>
            <a:r>
              <a:rPr lang="en-US" dirty="0"/>
              <a:t> </a:t>
            </a:r>
            <a:r>
              <a:rPr lang="en-US" dirty="0" err="1"/>
              <a:t>hungerStatus</a:t>
            </a:r>
            <a:r>
              <a:rPr lang="en-US" dirty="0"/>
              <a:t>, String[] </a:t>
            </a:r>
            <a:r>
              <a:rPr lang="en-US" dirty="0" err="1"/>
              <a:t>favToys</a:t>
            </a:r>
            <a:r>
              <a:rPr lang="en-US" dirty="0"/>
              <a:t>) {</a:t>
            </a:r>
          </a:p>
          <a:p>
            <a:pPr marL="0" indent="0">
              <a:buNone/>
            </a:pPr>
            <a:r>
              <a:rPr lang="en-US" dirty="0"/>
              <a:t>		this.name = name;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 err="1"/>
              <a:t>this.age</a:t>
            </a:r>
            <a:r>
              <a:rPr lang="en-US" dirty="0"/>
              <a:t> = age;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 err="1"/>
              <a:t>this.hungerStatus</a:t>
            </a:r>
            <a:r>
              <a:rPr lang="en-US" dirty="0"/>
              <a:t> = </a:t>
            </a:r>
            <a:r>
              <a:rPr lang="en-US" dirty="0" err="1"/>
              <a:t>hungerStatus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 err="1"/>
              <a:t>this.favToys</a:t>
            </a:r>
            <a:r>
              <a:rPr lang="en-US" dirty="0"/>
              <a:t> = </a:t>
            </a:r>
            <a:r>
              <a:rPr lang="en-US" dirty="0" err="1"/>
              <a:t>favToys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		</a:t>
            </a:r>
          </a:p>
          <a:p>
            <a:pPr marL="0" indent="0">
              <a:buNone/>
            </a:pPr>
            <a:r>
              <a:rPr lang="en-US" dirty="0"/>
              <a:t>	}</a:t>
            </a:r>
          </a:p>
        </p:txBody>
      </p:sp>
    </p:spTree>
    <p:extLst>
      <p:ext uri="{BB962C8B-B14F-4D97-AF65-F5344CB8AC3E}">
        <p14:creationId xmlns:p14="http://schemas.microsoft.com/office/powerpoint/2010/main" val="7565894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A90A0-29EE-EA47-229B-521EE1CD1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Calling the Constructor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84546C-B055-1E61-41ED-0770285D7F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public static void main(String[] </a:t>
            </a:r>
            <a:r>
              <a:rPr lang="en-US" dirty="0" err="1"/>
              <a:t>args</a:t>
            </a:r>
            <a:r>
              <a:rPr lang="en-US" dirty="0"/>
              <a:t>) {</a:t>
            </a:r>
          </a:p>
          <a:p>
            <a:pPr marL="0" indent="0">
              <a:buNone/>
            </a:pPr>
            <a:r>
              <a:rPr lang="en-US" dirty="0"/>
              <a:t>		Cat </a:t>
            </a:r>
            <a:r>
              <a:rPr lang="en-US" dirty="0" err="1"/>
              <a:t>myCat</a:t>
            </a:r>
            <a:r>
              <a:rPr lang="en-US" dirty="0"/>
              <a:t> = new Cat(); //default Cat object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b="1" dirty="0">
                <a:solidFill>
                  <a:schemeClr val="accent1"/>
                </a:solidFill>
              </a:rPr>
              <a:t>String[] toys = new String[] {"mouse toy", "laser pointer", "feather toy"};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1"/>
                </a:solidFill>
              </a:rPr>
              <a:t>		Cat </a:t>
            </a:r>
            <a:r>
              <a:rPr lang="en-US" b="1" dirty="0" err="1">
                <a:solidFill>
                  <a:schemeClr val="accent1"/>
                </a:solidFill>
              </a:rPr>
              <a:t>myOtherCat</a:t>
            </a:r>
            <a:r>
              <a:rPr lang="en-US" b="1" dirty="0">
                <a:solidFill>
                  <a:schemeClr val="accent1"/>
                </a:solidFill>
              </a:rPr>
              <a:t> = new Cat("Tom", 3, true, toys) ;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 err="1"/>
              <a:t>myCat.showInfo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b="1" dirty="0" err="1">
                <a:solidFill>
                  <a:schemeClr val="accent1"/>
                </a:solidFill>
              </a:rPr>
              <a:t>myOtherCat.showInfo</a:t>
            </a:r>
            <a:r>
              <a:rPr lang="en-US" b="1" dirty="0">
                <a:solidFill>
                  <a:schemeClr val="accent1"/>
                </a:solidFill>
              </a:rPr>
              <a:t>();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}</a:t>
            </a:r>
          </a:p>
        </p:txBody>
      </p:sp>
    </p:spTree>
    <p:extLst>
      <p:ext uri="{BB962C8B-B14F-4D97-AF65-F5344CB8AC3E}">
        <p14:creationId xmlns:p14="http://schemas.microsoft.com/office/powerpoint/2010/main" val="26361213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2F97BB-484D-28CB-DE20-F80F8A407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Constructor Overloading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DF26B5-8BA3-7694-A5A7-B8F24E1CF5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4318472"/>
          </a:xfrm>
        </p:spPr>
        <p:txBody>
          <a:bodyPr>
            <a:normAutofit/>
          </a:bodyPr>
          <a:lstStyle/>
          <a:p>
            <a:r>
              <a:rPr lang="en-US" dirty="0"/>
              <a:t>Falls under the </a:t>
            </a:r>
            <a:r>
              <a:rPr lang="en-US" b="1" dirty="0"/>
              <a:t>“polymorphism” </a:t>
            </a:r>
            <a:r>
              <a:rPr lang="en-US" dirty="0"/>
              <a:t>umbrella of OOP.</a:t>
            </a:r>
          </a:p>
          <a:p>
            <a:r>
              <a:rPr lang="en-US" dirty="0"/>
              <a:t>Overloading a Constructor means that there are multiple constructors with different arguments. (We’re already doing this)</a:t>
            </a:r>
          </a:p>
          <a:p>
            <a:pPr lvl="1"/>
            <a:r>
              <a:rPr lang="en-US" dirty="0"/>
              <a:t>Default:			</a:t>
            </a:r>
            <a:r>
              <a:rPr lang="en-US" b="1" dirty="0"/>
              <a:t> public Cat() </a:t>
            </a:r>
            <a:endParaRPr lang="en-US" dirty="0"/>
          </a:p>
          <a:p>
            <a:pPr lvl="1"/>
            <a:r>
              <a:rPr lang="en-US" dirty="0"/>
              <a:t>Parameterized: 	</a:t>
            </a:r>
            <a:r>
              <a:rPr lang="en-US" b="1" dirty="0"/>
              <a:t> public Cat(String name, int age, </a:t>
            </a:r>
            <a:r>
              <a:rPr lang="en-US" b="1" dirty="0" err="1"/>
              <a:t>boolean</a:t>
            </a:r>
            <a:r>
              <a:rPr lang="en-US" b="1" dirty="0"/>
              <a:t> </a:t>
            </a:r>
            <a:r>
              <a:rPr lang="en-US" b="1" dirty="0" err="1"/>
              <a:t>hungerStatus</a:t>
            </a:r>
            <a:r>
              <a:rPr lang="en-US" b="1" dirty="0"/>
              <a:t>, String[] </a:t>
            </a:r>
            <a:r>
              <a:rPr lang="en-US" b="1" dirty="0" err="1"/>
              <a:t>favToys</a:t>
            </a:r>
            <a:r>
              <a:rPr lang="en-US" b="1" dirty="0"/>
              <a:t>)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See how they have the same names but different arguments?</a:t>
            </a:r>
          </a:p>
          <a:p>
            <a:r>
              <a:rPr lang="en-US" dirty="0"/>
              <a:t>You can have as many overloaded constructors as you want, as long as they have a different parameter list!</a:t>
            </a:r>
          </a:p>
        </p:txBody>
      </p:sp>
    </p:spTree>
    <p:extLst>
      <p:ext uri="{BB962C8B-B14F-4D97-AF65-F5344CB8AC3E}">
        <p14:creationId xmlns:p14="http://schemas.microsoft.com/office/powerpoint/2010/main" val="26681553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0E3C1-8288-F85D-D7DF-4D80E7EB8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Overloading Parameterized Constructors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17A9E4-8406-37C2-ADAB-B0DDE4D5A1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//adding another Parameterized Constructor</a:t>
            </a:r>
          </a:p>
          <a:p>
            <a:pPr marL="0" indent="0">
              <a:buNone/>
            </a:pPr>
            <a:r>
              <a:rPr lang="en-US" dirty="0"/>
              <a:t>	public Cat(</a:t>
            </a:r>
            <a:r>
              <a:rPr lang="en-US" b="1" dirty="0"/>
              <a:t>String name, int age, </a:t>
            </a:r>
            <a:r>
              <a:rPr lang="en-US" b="1" dirty="0" err="1"/>
              <a:t>boolean</a:t>
            </a:r>
            <a:r>
              <a:rPr lang="en-US" b="1" dirty="0"/>
              <a:t> </a:t>
            </a:r>
            <a:r>
              <a:rPr lang="en-US" b="1" dirty="0" err="1"/>
              <a:t>hungerStatus</a:t>
            </a:r>
            <a:r>
              <a:rPr lang="en-US" dirty="0"/>
              <a:t>) { </a:t>
            </a:r>
            <a:r>
              <a:rPr lang="en-US" b="1" dirty="0">
                <a:solidFill>
                  <a:schemeClr val="accent1"/>
                </a:solidFill>
              </a:rPr>
              <a:t>//see param list</a:t>
            </a:r>
          </a:p>
          <a:p>
            <a:pPr marL="0" indent="0">
              <a:buNone/>
            </a:pPr>
            <a:r>
              <a:rPr lang="en-US" dirty="0"/>
              <a:t>		this.name = name;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 err="1"/>
              <a:t>this.age</a:t>
            </a:r>
            <a:r>
              <a:rPr lang="en-US" dirty="0"/>
              <a:t> = age;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 err="1"/>
              <a:t>this.hungerStatus</a:t>
            </a:r>
            <a:r>
              <a:rPr lang="en-US" dirty="0"/>
              <a:t> = </a:t>
            </a:r>
            <a:r>
              <a:rPr lang="en-US" dirty="0" err="1"/>
              <a:t>hungerStatus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 err="1"/>
              <a:t>this.favToys</a:t>
            </a:r>
            <a:r>
              <a:rPr lang="en-US" dirty="0"/>
              <a:t> = new String[] {""};</a:t>
            </a:r>
          </a:p>
          <a:p>
            <a:pPr marL="0" indent="0">
              <a:buNone/>
            </a:pPr>
            <a:r>
              <a:rPr lang="en-US" dirty="0"/>
              <a:t>		</a:t>
            </a:r>
          </a:p>
          <a:p>
            <a:pPr marL="0" indent="0">
              <a:buNone/>
            </a:pPr>
            <a:r>
              <a:rPr lang="en-US" dirty="0"/>
              <a:t>	}</a:t>
            </a:r>
          </a:p>
        </p:txBody>
      </p:sp>
    </p:spTree>
    <p:extLst>
      <p:ext uri="{BB962C8B-B14F-4D97-AF65-F5344CB8AC3E}">
        <p14:creationId xmlns:p14="http://schemas.microsoft.com/office/powerpoint/2010/main" val="26037722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067D0-BB73-3B5B-3470-FF98F085B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Calling Overloaded Constructors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508664-1521-68C9-CEF2-48F560071A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public static void main(String[] </a:t>
            </a:r>
            <a:r>
              <a:rPr lang="en-US" dirty="0" err="1"/>
              <a:t>args</a:t>
            </a:r>
            <a:r>
              <a:rPr lang="en-US" dirty="0"/>
              <a:t>) {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b="1" dirty="0">
                <a:solidFill>
                  <a:schemeClr val="accent1"/>
                </a:solidFill>
              </a:rPr>
              <a:t>Cat </a:t>
            </a:r>
            <a:r>
              <a:rPr lang="en-US" b="1" dirty="0" err="1">
                <a:solidFill>
                  <a:schemeClr val="accent1"/>
                </a:solidFill>
              </a:rPr>
              <a:t>myCat</a:t>
            </a:r>
            <a:r>
              <a:rPr lang="en-US" b="1" dirty="0">
                <a:solidFill>
                  <a:schemeClr val="accent1"/>
                </a:solidFill>
              </a:rPr>
              <a:t> = new Cat(); // default constructor</a:t>
            </a:r>
          </a:p>
          <a:p>
            <a:pPr marL="0" indent="0">
              <a:buNone/>
            </a:pPr>
            <a:r>
              <a:rPr lang="en-US" dirty="0"/>
              <a:t>		String[] toys = new String[] {"mouse toy", "laser pointer", "feather toy"};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b="1" dirty="0">
                <a:solidFill>
                  <a:schemeClr val="accent1"/>
                </a:solidFill>
              </a:rPr>
              <a:t>Cat </a:t>
            </a:r>
            <a:r>
              <a:rPr lang="en-US" b="1" dirty="0" err="1">
                <a:solidFill>
                  <a:schemeClr val="accent1"/>
                </a:solidFill>
              </a:rPr>
              <a:t>myOtherCat</a:t>
            </a:r>
            <a:r>
              <a:rPr lang="en-US" b="1" dirty="0">
                <a:solidFill>
                  <a:schemeClr val="accent1"/>
                </a:solidFill>
              </a:rPr>
              <a:t> = new Cat("Tom", 3, true, toys); // parameterized constructor 1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1"/>
                </a:solidFill>
              </a:rPr>
              <a:t>		Cat </a:t>
            </a:r>
            <a:r>
              <a:rPr lang="en-US" b="1" dirty="0" err="1">
                <a:solidFill>
                  <a:schemeClr val="accent1"/>
                </a:solidFill>
              </a:rPr>
              <a:t>myThirdCat</a:t>
            </a:r>
            <a:r>
              <a:rPr lang="en-US" b="1" dirty="0">
                <a:solidFill>
                  <a:schemeClr val="accent1"/>
                </a:solidFill>
              </a:rPr>
              <a:t> = new Cat("Garfield", 8, true); // parameterized constructor 2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 err="1"/>
              <a:t>myCat.showInfo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 err="1"/>
              <a:t>myOtherCat.showInfo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 err="1"/>
              <a:t>myThirdCat.showInfo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	}</a:t>
            </a:r>
          </a:p>
        </p:txBody>
      </p:sp>
    </p:spTree>
    <p:extLst>
      <p:ext uri="{BB962C8B-B14F-4D97-AF65-F5344CB8AC3E}">
        <p14:creationId xmlns:p14="http://schemas.microsoft.com/office/powerpoint/2010/main" val="11421981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9BA3C-E821-FFB0-6DB9-90DC67B60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Another Type: Copy Constructor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0501CD-37A1-4A9C-5519-1CBDA44E2A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 copy constructor is a member function which initializes an object using another object of the same class.</a:t>
            </a:r>
          </a:p>
          <a:p>
            <a:r>
              <a:rPr lang="en-US" dirty="0"/>
              <a:t>For our Cat class, it would look something like this: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1"/>
                </a:solidFill>
              </a:rPr>
              <a:t>//copy constructor for Cat</a:t>
            </a:r>
          </a:p>
          <a:p>
            <a:pPr marL="0" indent="0">
              <a:buNone/>
            </a:pPr>
            <a:r>
              <a:rPr lang="en-US" dirty="0"/>
              <a:t>	public Cat(</a:t>
            </a:r>
            <a:r>
              <a:rPr lang="en-US" b="1" dirty="0">
                <a:solidFill>
                  <a:schemeClr val="accent3"/>
                </a:solidFill>
              </a:rPr>
              <a:t>final</a:t>
            </a:r>
            <a:r>
              <a:rPr lang="en-US" b="1" dirty="0"/>
              <a:t> Cat other</a:t>
            </a:r>
            <a:r>
              <a:rPr lang="en-US" dirty="0"/>
              <a:t>) { </a:t>
            </a:r>
            <a:r>
              <a:rPr lang="en-US" dirty="0">
                <a:solidFill>
                  <a:schemeClr val="accent1"/>
                </a:solidFill>
              </a:rPr>
              <a:t>//it’s good practice to add final here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b="1" dirty="0"/>
              <a:t>this</a:t>
            </a:r>
            <a:r>
              <a:rPr lang="en-US" dirty="0"/>
              <a:t>.name = </a:t>
            </a:r>
            <a:r>
              <a:rPr lang="en-US" b="1" dirty="0"/>
              <a:t>other</a:t>
            </a:r>
            <a:r>
              <a:rPr lang="en-US" dirty="0"/>
              <a:t>.name;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b="1" dirty="0" err="1"/>
              <a:t>this</a:t>
            </a:r>
            <a:r>
              <a:rPr lang="en-US" dirty="0" err="1"/>
              <a:t>.age</a:t>
            </a:r>
            <a:r>
              <a:rPr lang="en-US" dirty="0"/>
              <a:t> = </a:t>
            </a:r>
            <a:r>
              <a:rPr lang="en-US" b="1" dirty="0" err="1"/>
              <a:t>other</a:t>
            </a:r>
            <a:r>
              <a:rPr lang="en-US" dirty="0" err="1"/>
              <a:t>.age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b="1" dirty="0" err="1"/>
              <a:t>this</a:t>
            </a:r>
            <a:r>
              <a:rPr lang="en-US" dirty="0" err="1"/>
              <a:t>.hungerStatus</a:t>
            </a:r>
            <a:r>
              <a:rPr lang="en-US" dirty="0"/>
              <a:t> = </a:t>
            </a:r>
            <a:r>
              <a:rPr lang="en-US" b="1" dirty="0" err="1"/>
              <a:t>other</a:t>
            </a:r>
            <a:r>
              <a:rPr lang="en-US" dirty="0" err="1"/>
              <a:t>.hungerStatus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b="1" dirty="0" err="1"/>
              <a:t>this</a:t>
            </a:r>
            <a:r>
              <a:rPr lang="en-US" dirty="0" err="1"/>
              <a:t>.favToys</a:t>
            </a:r>
            <a:r>
              <a:rPr lang="en-US" dirty="0"/>
              <a:t> = </a:t>
            </a:r>
            <a:r>
              <a:rPr lang="en-US" b="1" dirty="0" err="1"/>
              <a:t>other</a:t>
            </a:r>
            <a:r>
              <a:rPr lang="en-US" dirty="0" err="1"/>
              <a:t>.favToys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	}</a:t>
            </a:r>
          </a:p>
        </p:txBody>
      </p:sp>
    </p:spTree>
    <p:extLst>
      <p:ext uri="{BB962C8B-B14F-4D97-AF65-F5344CB8AC3E}">
        <p14:creationId xmlns:p14="http://schemas.microsoft.com/office/powerpoint/2010/main" val="29759162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AAB36-E5C6-C9DD-A309-76B9DC1AB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 we need a Copy Constructor?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81BEDA-1ED5-24F0-D548-B553C67491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Why can’t we just do something like: </a:t>
            </a:r>
          </a:p>
          <a:p>
            <a:pPr lvl="1"/>
            <a:r>
              <a:rPr lang="en-US" dirty="0"/>
              <a:t>Cat copy = </a:t>
            </a:r>
            <a:r>
              <a:rPr lang="en-US" dirty="0" err="1"/>
              <a:t>myThirdCat</a:t>
            </a:r>
            <a:r>
              <a:rPr lang="en-US" dirty="0"/>
              <a:t>;</a:t>
            </a:r>
          </a:p>
          <a:p>
            <a:r>
              <a:rPr lang="en-US" dirty="0"/>
              <a:t>Let’s observe what happens when we do this…</a:t>
            </a:r>
          </a:p>
          <a:p>
            <a:pPr lvl="1"/>
            <a:r>
              <a:rPr lang="en-US" dirty="0"/>
              <a:t>Cat c1 = </a:t>
            </a:r>
            <a:r>
              <a:rPr lang="en-US" b="1" dirty="0"/>
              <a:t>new Cat ("Billi", 2, false, toys);</a:t>
            </a:r>
          </a:p>
          <a:p>
            <a:pPr lvl="1"/>
            <a:r>
              <a:rPr lang="en-US" dirty="0"/>
              <a:t>Cat c2 = c1;</a:t>
            </a:r>
          </a:p>
          <a:p>
            <a:pPr lvl="1"/>
            <a:r>
              <a:rPr lang="en-US" dirty="0"/>
              <a:t>c2.setName("Catto");</a:t>
            </a:r>
          </a:p>
          <a:p>
            <a:pPr lvl="1"/>
            <a:r>
              <a:rPr lang="en-US" dirty="0"/>
              <a:t>c1.showInfo();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801BC5-FDCF-FB5E-4BC0-44F35E08FDED}"/>
              </a:ext>
            </a:extLst>
          </p:cNvPr>
          <p:cNvSpPr txBox="1"/>
          <p:nvPr/>
        </p:nvSpPr>
        <p:spPr>
          <a:xfrm>
            <a:off x="6960636" y="3429000"/>
            <a:ext cx="3125755" cy="1754326"/>
          </a:xfrm>
          <a:prstGeom prst="rect">
            <a:avLst/>
          </a:prstGeom>
          <a:noFill/>
          <a:ln w="28575">
            <a:solidFill>
              <a:schemeClr val="accent1"/>
            </a:solidFill>
            <a:prstDash val="sysDot"/>
          </a:ln>
        </p:spPr>
        <p:txBody>
          <a:bodyPr wrap="square" rtlCol="0">
            <a:spAutoFit/>
          </a:bodyPr>
          <a:lstStyle/>
          <a:p>
            <a:r>
              <a:rPr lang="en-US"/>
              <a:t>Name: Catto</a:t>
            </a:r>
          </a:p>
          <a:p>
            <a:r>
              <a:rPr lang="en-US"/>
              <a:t>Age: 2</a:t>
            </a:r>
          </a:p>
          <a:p>
            <a:r>
              <a:rPr lang="en-US"/>
              <a:t>Hunger Status: false</a:t>
            </a:r>
          </a:p>
          <a:p>
            <a:r>
              <a:rPr lang="en-US"/>
              <a:t>Catto likes mouse toy</a:t>
            </a:r>
          </a:p>
          <a:p>
            <a:r>
              <a:rPr lang="en-US"/>
              <a:t>Catto likes laser pointer</a:t>
            </a:r>
          </a:p>
          <a:p>
            <a:r>
              <a:rPr lang="en-US"/>
              <a:t>Catto likes feather toy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2548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B7AFF-A301-8572-3700-C50AB5D38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does this happen?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416FF4-3AC5-88DA-33F3-E74A190B42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It’s because java treats objects as references.</a:t>
            </a:r>
          </a:p>
          <a:p>
            <a:r>
              <a:rPr lang="en-US" dirty="0"/>
              <a:t>c1 and c2 don’t hold the objects themselves, they </a:t>
            </a:r>
            <a:r>
              <a:rPr lang="en-US" b="1" dirty="0"/>
              <a:t>only hold the reference for the object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(This is also why objects are null when not initialized using </a:t>
            </a:r>
            <a:r>
              <a:rPr lang="en-US" b="1" dirty="0"/>
              <a:t>new</a:t>
            </a:r>
            <a:r>
              <a:rPr lang="en-US" dirty="0"/>
              <a:t>) – new returns the reference of the allocated memory.</a:t>
            </a:r>
          </a:p>
          <a:p>
            <a:endParaRPr lang="en-US" dirty="0"/>
          </a:p>
          <a:p>
            <a:r>
              <a:rPr lang="en-US" dirty="0"/>
              <a:t>This is why we need a copy constructor, so we can have a completely independent object. Something that doesn’t just hold the reference to the same memory.</a:t>
            </a:r>
          </a:p>
        </p:txBody>
      </p:sp>
    </p:spTree>
    <p:extLst>
      <p:ext uri="{BB962C8B-B14F-4D97-AF65-F5344CB8AC3E}">
        <p14:creationId xmlns:p14="http://schemas.microsoft.com/office/powerpoint/2010/main" val="22561892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C2A73-A227-A948-A614-5534EAA2F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Fixed Version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D40E3-F899-D00C-D9AD-EE2AA683D4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8332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Cat c1 = </a:t>
            </a:r>
            <a:r>
              <a:rPr lang="en-US" b="1" dirty="0"/>
              <a:t>new Cat ("Billi", 2, false, toys);</a:t>
            </a:r>
          </a:p>
          <a:p>
            <a:pPr marL="0" indent="0">
              <a:buNone/>
            </a:pPr>
            <a:r>
              <a:rPr lang="en-US" dirty="0"/>
              <a:t>Cat c2 = c1; </a:t>
            </a:r>
            <a:r>
              <a:rPr lang="en-US" dirty="0">
                <a:solidFill>
                  <a:schemeClr val="accent3"/>
                </a:solidFill>
              </a:rPr>
              <a:t>// not this one, this one isn’t fixed</a:t>
            </a:r>
          </a:p>
          <a:p>
            <a:pPr marL="0" indent="0">
              <a:buNone/>
            </a:pPr>
            <a:r>
              <a:rPr lang="en-US" dirty="0"/>
              <a:t>c2.setName("Catto");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//Copying using copy constructors</a:t>
            </a:r>
          </a:p>
          <a:p>
            <a:pPr marL="0" indent="0">
              <a:buNone/>
            </a:pPr>
            <a:r>
              <a:rPr lang="en-US" dirty="0"/>
              <a:t>Cat c3 = </a:t>
            </a:r>
            <a:r>
              <a:rPr lang="en-US" b="1" dirty="0"/>
              <a:t>new Cat(c2); </a:t>
            </a:r>
            <a:r>
              <a:rPr lang="en-US" b="1" dirty="0">
                <a:solidFill>
                  <a:schemeClr val="accent3"/>
                </a:solidFill>
              </a:rPr>
              <a:t>//the fixed one</a:t>
            </a:r>
          </a:p>
          <a:p>
            <a:pPr marL="0" indent="0">
              <a:buNone/>
            </a:pPr>
            <a:r>
              <a:rPr lang="en-US" dirty="0"/>
              <a:t>c3.setName("Cheshire");</a:t>
            </a:r>
          </a:p>
          <a:p>
            <a:pPr marL="0" indent="0">
              <a:buNone/>
            </a:pPr>
            <a:r>
              <a:rPr lang="en-US" dirty="0"/>
              <a:t>c1.showInfo();</a:t>
            </a:r>
          </a:p>
          <a:p>
            <a:pPr marL="0" indent="0">
              <a:buNone/>
            </a:pPr>
            <a:r>
              <a:rPr lang="en-US" dirty="0"/>
              <a:t>c3.showInfo();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977716-D280-9CA7-A6E9-EF3D8B70B2E8}"/>
              </a:ext>
            </a:extLst>
          </p:cNvPr>
          <p:cNvSpPr txBox="1"/>
          <p:nvPr/>
        </p:nvSpPr>
        <p:spPr>
          <a:xfrm>
            <a:off x="8264743" y="2332382"/>
            <a:ext cx="3108543" cy="3416320"/>
          </a:xfrm>
          <a:prstGeom prst="rect">
            <a:avLst/>
          </a:prstGeom>
          <a:noFill/>
          <a:ln w="28575">
            <a:solidFill>
              <a:schemeClr val="accent1"/>
            </a:solidFill>
            <a:prstDash val="lgDashDotDot"/>
          </a:ln>
        </p:spPr>
        <p:txBody>
          <a:bodyPr wrap="none" rtlCol="0">
            <a:spAutoFit/>
          </a:bodyPr>
          <a:lstStyle/>
          <a:p>
            <a:r>
              <a:rPr lang="en-US" dirty="0"/>
              <a:t>Name: Catto</a:t>
            </a:r>
          </a:p>
          <a:p>
            <a:r>
              <a:rPr lang="en-US" dirty="0"/>
              <a:t>Age: 2</a:t>
            </a:r>
          </a:p>
          <a:p>
            <a:r>
              <a:rPr lang="en-US" dirty="0"/>
              <a:t>Hunger Status: false</a:t>
            </a:r>
          </a:p>
          <a:p>
            <a:r>
              <a:rPr lang="en-US" dirty="0"/>
              <a:t>Catto likes mouse toy</a:t>
            </a:r>
          </a:p>
          <a:p>
            <a:r>
              <a:rPr lang="en-US" dirty="0"/>
              <a:t>Catto likes laser pointer</a:t>
            </a:r>
          </a:p>
          <a:p>
            <a:r>
              <a:rPr lang="en-US" dirty="0"/>
              <a:t>Catto likes feather toy</a:t>
            </a:r>
          </a:p>
          <a:p>
            <a:r>
              <a:rPr lang="en-US" dirty="0"/>
              <a:t>Name: Cheshire</a:t>
            </a:r>
          </a:p>
          <a:p>
            <a:r>
              <a:rPr lang="en-US" dirty="0"/>
              <a:t>Age: 2</a:t>
            </a:r>
          </a:p>
          <a:p>
            <a:r>
              <a:rPr lang="en-US" dirty="0"/>
              <a:t>Hunger Status: false</a:t>
            </a:r>
          </a:p>
          <a:p>
            <a:r>
              <a:rPr lang="en-US" dirty="0"/>
              <a:t>Cheshire likes mouse toy</a:t>
            </a:r>
          </a:p>
          <a:p>
            <a:r>
              <a:rPr lang="en-US" dirty="0"/>
              <a:t>Cheshire likes laser pointer</a:t>
            </a:r>
          </a:p>
          <a:p>
            <a:r>
              <a:rPr lang="en-US" dirty="0"/>
              <a:t>Cheshire likes feather toy</a:t>
            </a:r>
          </a:p>
        </p:txBody>
      </p:sp>
    </p:spTree>
    <p:extLst>
      <p:ext uri="{BB962C8B-B14F-4D97-AF65-F5344CB8AC3E}">
        <p14:creationId xmlns:p14="http://schemas.microsoft.com/office/powerpoint/2010/main" val="807394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92421-5D4F-4A8D-5698-0650BE8210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But hmm… Something’s still wrong…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F89522-A3D5-6CEE-7223-CC7E7A3651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4188525"/>
          </a:xfrm>
        </p:spPr>
        <p:txBody>
          <a:bodyPr>
            <a:normAutofit/>
          </a:bodyPr>
          <a:lstStyle/>
          <a:p>
            <a:r>
              <a:rPr lang="en-US" dirty="0"/>
              <a:t>Let’s modify the code a bit more. Let’s say we made some changes to the toys array later in the code.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	toys[2] = "shelves";</a:t>
            </a:r>
          </a:p>
          <a:p>
            <a:pPr marL="0" indent="0">
              <a:buNone/>
            </a:pPr>
            <a:r>
              <a:rPr lang="en-US" dirty="0"/>
              <a:t>		c1.showInfo();</a:t>
            </a:r>
          </a:p>
          <a:p>
            <a:pPr marL="0" indent="0">
              <a:buNone/>
            </a:pPr>
            <a:r>
              <a:rPr lang="en-US" dirty="0"/>
              <a:t>		c1.setfavToyOnIndex(0, "rubber ducky");</a:t>
            </a:r>
          </a:p>
          <a:p>
            <a:pPr marL="0" indent="0">
              <a:buNone/>
            </a:pPr>
            <a:r>
              <a:rPr lang="en-US" dirty="0"/>
              <a:t>		c3.showInfo();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Now this has an impact on ALL the cat objects where you </a:t>
            </a:r>
          </a:p>
          <a:p>
            <a:pPr marL="0" indent="0">
              <a:buNone/>
            </a:pPr>
            <a:r>
              <a:rPr lang="en-US" dirty="0"/>
              <a:t>     used the toys array for object initialization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AE5AB6-6ECD-E323-B32A-34F7B2CD0C6D}"/>
              </a:ext>
            </a:extLst>
          </p:cNvPr>
          <p:cNvSpPr txBox="1"/>
          <p:nvPr/>
        </p:nvSpPr>
        <p:spPr>
          <a:xfrm>
            <a:off x="7862596" y="2913436"/>
            <a:ext cx="4133461" cy="369331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1"/>
            </a:solidFill>
            <a:prstDash val="dashDot"/>
          </a:ln>
        </p:spPr>
        <p:txBody>
          <a:bodyPr wrap="square" rtlCol="0">
            <a:spAutoFit/>
          </a:bodyPr>
          <a:lstStyle/>
          <a:p>
            <a:r>
              <a:rPr lang="en-US" dirty="0"/>
              <a:t>Name: Catto</a:t>
            </a:r>
          </a:p>
          <a:p>
            <a:r>
              <a:rPr lang="en-US" dirty="0"/>
              <a:t>Age: 2</a:t>
            </a:r>
          </a:p>
          <a:p>
            <a:r>
              <a:rPr lang="en-US" dirty="0"/>
              <a:t>Hunger Status: false</a:t>
            </a:r>
          </a:p>
          <a:p>
            <a:r>
              <a:rPr lang="en-US" dirty="0"/>
              <a:t>Catto likes mouse toy</a:t>
            </a:r>
          </a:p>
          <a:p>
            <a:r>
              <a:rPr lang="en-US" dirty="0"/>
              <a:t>Catto likes laser pointer</a:t>
            </a:r>
          </a:p>
          <a:p>
            <a:r>
              <a:rPr lang="en-US" dirty="0"/>
              <a:t>Catto likes shelves</a:t>
            </a:r>
          </a:p>
          <a:p>
            <a:r>
              <a:rPr lang="en-US" dirty="0"/>
              <a:t>Name: Cheshire</a:t>
            </a:r>
          </a:p>
          <a:p>
            <a:r>
              <a:rPr lang="en-US" dirty="0"/>
              <a:t>Age: 2</a:t>
            </a:r>
          </a:p>
          <a:p>
            <a:r>
              <a:rPr lang="en-US" dirty="0"/>
              <a:t>Hunger Status: false</a:t>
            </a:r>
          </a:p>
          <a:p>
            <a:r>
              <a:rPr lang="en-US" dirty="0"/>
              <a:t>Cheshire likes rubber ducky</a:t>
            </a:r>
          </a:p>
          <a:p>
            <a:r>
              <a:rPr lang="en-US" dirty="0"/>
              <a:t>Cheshire likes laser pointer</a:t>
            </a:r>
          </a:p>
          <a:p>
            <a:r>
              <a:rPr lang="en-US" dirty="0"/>
              <a:t>Cheshire likes shelves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253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31397-8F68-5517-9DDC-2653FC4C1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Fix This?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0BA8CF-B0F4-0C8E-14A6-CD063B165C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Pretty simple – Instead of saying array2 = array1, we need to allocate a new memory chunk for array2. </a:t>
            </a:r>
          </a:p>
          <a:p>
            <a:r>
              <a:rPr lang="en-US" dirty="0"/>
              <a:t>The size should be the same at the size of array1.</a:t>
            </a:r>
          </a:p>
          <a:p>
            <a:r>
              <a:rPr lang="en-US" dirty="0"/>
              <a:t>Then we need to iterate through it and assign each element of the array one by one.</a:t>
            </a:r>
          </a:p>
        </p:txBody>
      </p:sp>
    </p:spTree>
    <p:extLst>
      <p:ext uri="{BB962C8B-B14F-4D97-AF65-F5344CB8AC3E}">
        <p14:creationId xmlns:p14="http://schemas.microsoft.com/office/powerpoint/2010/main" val="32795856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D85D7-A67A-DB2D-7303-98C753F64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Modified Parameterized Constructor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D71105-560F-D9F5-5A99-ABED6A3078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40198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public Cat(String name, int age, </a:t>
            </a:r>
            <a:r>
              <a:rPr lang="en-US" dirty="0" err="1"/>
              <a:t>boolean</a:t>
            </a:r>
            <a:r>
              <a:rPr lang="en-US" dirty="0"/>
              <a:t> </a:t>
            </a:r>
            <a:r>
              <a:rPr lang="en-US" dirty="0" err="1"/>
              <a:t>hungerStatus</a:t>
            </a:r>
            <a:r>
              <a:rPr lang="en-US" dirty="0"/>
              <a:t>, String[] </a:t>
            </a:r>
            <a:r>
              <a:rPr lang="en-US" dirty="0" err="1"/>
              <a:t>favToys</a:t>
            </a:r>
            <a:r>
              <a:rPr lang="en-US" dirty="0"/>
              <a:t>) {</a:t>
            </a:r>
          </a:p>
          <a:p>
            <a:pPr marL="0" indent="0">
              <a:buNone/>
            </a:pPr>
            <a:r>
              <a:rPr lang="en-US" dirty="0"/>
              <a:t>		this.name = name;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 err="1"/>
              <a:t>this.age</a:t>
            </a:r>
            <a:r>
              <a:rPr lang="en-US" dirty="0"/>
              <a:t> = age;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 err="1"/>
              <a:t>this.hungerStatus</a:t>
            </a:r>
            <a:r>
              <a:rPr lang="en-US" dirty="0"/>
              <a:t> = </a:t>
            </a:r>
            <a:r>
              <a:rPr lang="en-US" dirty="0" err="1"/>
              <a:t>hungerStatus</a:t>
            </a:r>
            <a:r>
              <a:rPr lang="en-US" dirty="0"/>
              <a:t>; 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b="1" dirty="0" err="1">
                <a:solidFill>
                  <a:schemeClr val="accent3"/>
                </a:solidFill>
              </a:rPr>
              <a:t>this.favToys</a:t>
            </a:r>
            <a:r>
              <a:rPr lang="en-US" b="1" dirty="0">
                <a:solidFill>
                  <a:schemeClr val="accent3"/>
                </a:solidFill>
              </a:rPr>
              <a:t> = new String[</a:t>
            </a:r>
            <a:r>
              <a:rPr lang="en-US" b="1" dirty="0" err="1">
                <a:solidFill>
                  <a:schemeClr val="accent3"/>
                </a:solidFill>
              </a:rPr>
              <a:t>favToys.length</a:t>
            </a:r>
            <a:r>
              <a:rPr lang="en-US" b="1" dirty="0">
                <a:solidFill>
                  <a:schemeClr val="accent3"/>
                </a:solidFill>
              </a:rPr>
              <a:t>];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3"/>
                </a:solidFill>
              </a:rPr>
              <a:t>		for (int </a:t>
            </a:r>
            <a:r>
              <a:rPr lang="en-US" b="1" dirty="0" err="1">
                <a:solidFill>
                  <a:schemeClr val="accent3"/>
                </a:solidFill>
              </a:rPr>
              <a:t>i</a:t>
            </a:r>
            <a:r>
              <a:rPr lang="en-US" b="1" dirty="0">
                <a:solidFill>
                  <a:schemeClr val="accent3"/>
                </a:solidFill>
              </a:rPr>
              <a:t> = 0; </a:t>
            </a:r>
            <a:r>
              <a:rPr lang="en-US" b="1" dirty="0" err="1">
                <a:solidFill>
                  <a:schemeClr val="accent3"/>
                </a:solidFill>
              </a:rPr>
              <a:t>i</a:t>
            </a:r>
            <a:r>
              <a:rPr lang="en-US" b="1" dirty="0">
                <a:solidFill>
                  <a:schemeClr val="accent3"/>
                </a:solidFill>
              </a:rPr>
              <a:t> &lt; </a:t>
            </a:r>
            <a:r>
              <a:rPr lang="en-US" b="1" dirty="0" err="1">
                <a:solidFill>
                  <a:schemeClr val="accent3"/>
                </a:solidFill>
              </a:rPr>
              <a:t>favToys.length</a:t>
            </a:r>
            <a:r>
              <a:rPr lang="en-US" b="1" dirty="0">
                <a:solidFill>
                  <a:schemeClr val="accent3"/>
                </a:solidFill>
              </a:rPr>
              <a:t>; </a:t>
            </a:r>
            <a:r>
              <a:rPr lang="en-US" b="1" dirty="0" err="1">
                <a:solidFill>
                  <a:schemeClr val="accent3"/>
                </a:solidFill>
              </a:rPr>
              <a:t>i</a:t>
            </a:r>
            <a:r>
              <a:rPr lang="en-US" b="1" dirty="0">
                <a:solidFill>
                  <a:schemeClr val="accent3"/>
                </a:solidFill>
              </a:rPr>
              <a:t>++)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3"/>
                </a:solidFill>
              </a:rPr>
              <a:t>			</a:t>
            </a:r>
            <a:r>
              <a:rPr lang="en-US" b="1" dirty="0" err="1">
                <a:solidFill>
                  <a:schemeClr val="accent3"/>
                </a:solidFill>
              </a:rPr>
              <a:t>this.favToys</a:t>
            </a:r>
            <a:r>
              <a:rPr lang="en-US" b="1" dirty="0">
                <a:solidFill>
                  <a:schemeClr val="accent3"/>
                </a:solidFill>
              </a:rPr>
              <a:t>[</a:t>
            </a:r>
            <a:r>
              <a:rPr lang="en-US" b="1" dirty="0" err="1">
                <a:solidFill>
                  <a:schemeClr val="accent3"/>
                </a:solidFill>
              </a:rPr>
              <a:t>i</a:t>
            </a:r>
            <a:r>
              <a:rPr lang="en-US" b="1" dirty="0">
                <a:solidFill>
                  <a:schemeClr val="accent3"/>
                </a:solidFill>
              </a:rPr>
              <a:t>] = </a:t>
            </a:r>
            <a:r>
              <a:rPr lang="en-US" b="1" dirty="0" err="1">
                <a:solidFill>
                  <a:schemeClr val="accent3"/>
                </a:solidFill>
              </a:rPr>
              <a:t>favToys</a:t>
            </a:r>
            <a:r>
              <a:rPr lang="en-US" b="1" dirty="0">
                <a:solidFill>
                  <a:schemeClr val="accent3"/>
                </a:solidFill>
              </a:rPr>
              <a:t>[</a:t>
            </a:r>
            <a:r>
              <a:rPr lang="en-US" b="1" dirty="0" err="1">
                <a:solidFill>
                  <a:schemeClr val="accent3"/>
                </a:solidFill>
              </a:rPr>
              <a:t>i</a:t>
            </a:r>
            <a:r>
              <a:rPr lang="en-US" b="1" dirty="0">
                <a:solidFill>
                  <a:schemeClr val="accent3"/>
                </a:solidFill>
              </a:rPr>
              <a:t>];</a:t>
            </a:r>
          </a:p>
          <a:p>
            <a:pPr marL="0" indent="0">
              <a:buNone/>
            </a:pPr>
            <a:r>
              <a:rPr lang="en-US" dirty="0"/>
              <a:t>		</a:t>
            </a:r>
          </a:p>
          <a:p>
            <a:pPr marL="0" indent="0">
              <a:buNone/>
            </a:pPr>
            <a:r>
              <a:rPr lang="en-US" dirty="0"/>
              <a:t>	}</a:t>
            </a:r>
          </a:p>
        </p:txBody>
      </p:sp>
    </p:spTree>
    <p:extLst>
      <p:ext uri="{BB962C8B-B14F-4D97-AF65-F5344CB8AC3E}">
        <p14:creationId xmlns:p14="http://schemas.microsoft.com/office/powerpoint/2010/main" val="10897055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C0635-01C7-29FF-7FFC-D2B9A8BEC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Modified Copy Constructor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139BB1-A33F-1860-166F-B772808835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	this.name = other.name;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 err="1"/>
              <a:t>this.age</a:t>
            </a:r>
            <a:r>
              <a:rPr lang="en-US" dirty="0"/>
              <a:t> = </a:t>
            </a:r>
            <a:r>
              <a:rPr lang="en-US" dirty="0" err="1"/>
              <a:t>other.age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 err="1"/>
              <a:t>this.hungerStatus</a:t>
            </a:r>
            <a:r>
              <a:rPr lang="en-US" dirty="0"/>
              <a:t> = </a:t>
            </a:r>
            <a:r>
              <a:rPr lang="en-US" dirty="0" err="1"/>
              <a:t>other.hungerStatus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b="1" dirty="0" err="1">
                <a:solidFill>
                  <a:schemeClr val="accent3"/>
                </a:solidFill>
              </a:rPr>
              <a:t>this.favToys</a:t>
            </a:r>
            <a:r>
              <a:rPr lang="en-US" b="1" dirty="0">
                <a:solidFill>
                  <a:schemeClr val="accent3"/>
                </a:solidFill>
              </a:rPr>
              <a:t> = new String[</a:t>
            </a:r>
            <a:r>
              <a:rPr lang="en-US" b="1" dirty="0" err="1">
                <a:solidFill>
                  <a:schemeClr val="accent3"/>
                </a:solidFill>
              </a:rPr>
              <a:t>other.favToys.length</a:t>
            </a:r>
            <a:r>
              <a:rPr lang="en-US" b="1" dirty="0">
                <a:solidFill>
                  <a:schemeClr val="accent3"/>
                </a:solidFill>
              </a:rPr>
              <a:t>];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3"/>
                </a:solidFill>
              </a:rPr>
              <a:t>		for (int </a:t>
            </a:r>
            <a:r>
              <a:rPr lang="en-US" b="1" dirty="0" err="1">
                <a:solidFill>
                  <a:schemeClr val="accent3"/>
                </a:solidFill>
              </a:rPr>
              <a:t>i</a:t>
            </a:r>
            <a:r>
              <a:rPr lang="en-US" b="1" dirty="0">
                <a:solidFill>
                  <a:schemeClr val="accent3"/>
                </a:solidFill>
              </a:rPr>
              <a:t> = 0; </a:t>
            </a:r>
            <a:r>
              <a:rPr lang="en-US" b="1" dirty="0" err="1">
                <a:solidFill>
                  <a:schemeClr val="accent3"/>
                </a:solidFill>
              </a:rPr>
              <a:t>i</a:t>
            </a:r>
            <a:r>
              <a:rPr lang="en-US" b="1" dirty="0">
                <a:solidFill>
                  <a:schemeClr val="accent3"/>
                </a:solidFill>
              </a:rPr>
              <a:t> &lt; </a:t>
            </a:r>
            <a:r>
              <a:rPr lang="en-US" b="1" dirty="0" err="1">
                <a:solidFill>
                  <a:schemeClr val="accent3"/>
                </a:solidFill>
              </a:rPr>
              <a:t>other.favToys.length</a:t>
            </a:r>
            <a:r>
              <a:rPr lang="en-US" b="1" dirty="0">
                <a:solidFill>
                  <a:schemeClr val="accent3"/>
                </a:solidFill>
              </a:rPr>
              <a:t>; </a:t>
            </a:r>
            <a:r>
              <a:rPr lang="en-US" b="1" dirty="0" err="1">
                <a:solidFill>
                  <a:schemeClr val="accent3"/>
                </a:solidFill>
              </a:rPr>
              <a:t>i</a:t>
            </a:r>
            <a:r>
              <a:rPr lang="en-US" b="1" dirty="0">
                <a:solidFill>
                  <a:schemeClr val="accent3"/>
                </a:solidFill>
              </a:rPr>
              <a:t>++)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3"/>
                </a:solidFill>
              </a:rPr>
              <a:t>			</a:t>
            </a:r>
            <a:r>
              <a:rPr lang="en-US" b="1" dirty="0" err="1">
                <a:solidFill>
                  <a:schemeClr val="accent3"/>
                </a:solidFill>
              </a:rPr>
              <a:t>this.favToys</a:t>
            </a:r>
            <a:r>
              <a:rPr lang="en-US" b="1" dirty="0">
                <a:solidFill>
                  <a:schemeClr val="accent3"/>
                </a:solidFill>
              </a:rPr>
              <a:t>[</a:t>
            </a:r>
            <a:r>
              <a:rPr lang="en-US" b="1" dirty="0" err="1">
                <a:solidFill>
                  <a:schemeClr val="accent3"/>
                </a:solidFill>
              </a:rPr>
              <a:t>i</a:t>
            </a:r>
            <a:r>
              <a:rPr lang="en-US" b="1" dirty="0">
                <a:solidFill>
                  <a:schemeClr val="accent3"/>
                </a:solidFill>
              </a:rPr>
              <a:t>] = </a:t>
            </a:r>
            <a:r>
              <a:rPr lang="en-US" b="1" dirty="0" err="1">
                <a:solidFill>
                  <a:schemeClr val="accent3"/>
                </a:solidFill>
              </a:rPr>
              <a:t>other.favToys</a:t>
            </a:r>
            <a:r>
              <a:rPr lang="en-US" b="1" dirty="0">
                <a:solidFill>
                  <a:schemeClr val="accent3"/>
                </a:solidFill>
              </a:rPr>
              <a:t>[</a:t>
            </a:r>
            <a:r>
              <a:rPr lang="en-US" b="1" dirty="0" err="1">
                <a:solidFill>
                  <a:schemeClr val="accent3"/>
                </a:solidFill>
              </a:rPr>
              <a:t>i</a:t>
            </a:r>
            <a:r>
              <a:rPr lang="en-US" b="1" dirty="0">
                <a:solidFill>
                  <a:schemeClr val="accent3"/>
                </a:solidFill>
              </a:rPr>
              <a:t>];</a:t>
            </a:r>
          </a:p>
          <a:p>
            <a:pPr marL="0" indent="0">
              <a:buNone/>
            </a:pPr>
            <a:r>
              <a:rPr lang="en-US" dirty="0"/>
              <a:t>	}</a:t>
            </a:r>
          </a:p>
        </p:txBody>
      </p:sp>
    </p:spTree>
    <p:extLst>
      <p:ext uri="{BB962C8B-B14F-4D97-AF65-F5344CB8AC3E}">
        <p14:creationId xmlns:p14="http://schemas.microsoft.com/office/powerpoint/2010/main" val="42187154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7B0CD9-8716-D5F3-BB9C-B5064EA64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Concept of Shallow and Deep Copy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5B1AE4-BFC3-D85B-B67E-4854986FDE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Shallow copy</a:t>
            </a:r>
            <a:r>
              <a:rPr lang="en-US" dirty="0"/>
              <a:t> creates a new object but shares references to nested objects and arrays.</a:t>
            </a:r>
          </a:p>
          <a:p>
            <a:r>
              <a:rPr lang="en-US" b="1" dirty="0"/>
              <a:t>Deep copy</a:t>
            </a:r>
            <a:r>
              <a:rPr lang="en-US" dirty="0"/>
              <a:t> creates a completely independent new object with unique copies of all nested objects and array.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What we observed earlier was a shallow copy of an array, and we modified it to be a deep copy.</a:t>
            </a:r>
          </a:p>
        </p:txBody>
      </p:sp>
    </p:spTree>
    <p:extLst>
      <p:ext uri="{BB962C8B-B14F-4D97-AF65-F5344CB8AC3E}">
        <p14:creationId xmlns:p14="http://schemas.microsoft.com/office/powerpoint/2010/main" val="127685960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F80385-91A3-0E93-76E6-5F6A075C4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Destructors in Java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F7F033-0D58-EA23-8BC3-D7256007A3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Well… There aren’t any…</a:t>
            </a:r>
          </a:p>
          <a:p>
            <a:r>
              <a:rPr lang="en-US" dirty="0"/>
              <a:t>But we do have a look alike method that we’re not supposed to use.</a:t>
            </a:r>
          </a:p>
          <a:p>
            <a:endParaRPr lang="en-US" dirty="0"/>
          </a:p>
          <a:p>
            <a:r>
              <a:rPr lang="en-US" dirty="0"/>
              <a:t>But we’ll use it any way for understanding purposes.</a:t>
            </a:r>
          </a:p>
        </p:txBody>
      </p:sp>
    </p:spTree>
    <p:extLst>
      <p:ext uri="{BB962C8B-B14F-4D97-AF65-F5344CB8AC3E}">
        <p14:creationId xmlns:p14="http://schemas.microsoft.com/office/powerpoint/2010/main" val="245668930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E2226-55E4-0C82-5AEB-EC0C80533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  v/s C++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A97DAA-D231-CC80-EC07-90510A904B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C++ whenever you DMA an object or array using “new”, you have to manually call “</a:t>
            </a:r>
            <a:r>
              <a:rPr lang="en-US" b="1" dirty="0"/>
              <a:t>delete</a:t>
            </a:r>
            <a:r>
              <a:rPr lang="en-US" dirty="0"/>
              <a:t>” to free that memory.</a:t>
            </a:r>
          </a:p>
          <a:p>
            <a:endParaRPr lang="en-US" dirty="0"/>
          </a:p>
          <a:p>
            <a:r>
              <a:rPr lang="en-US" dirty="0"/>
              <a:t>However, in Java you’re not required to do that.</a:t>
            </a:r>
          </a:p>
          <a:p>
            <a:r>
              <a:rPr lang="en-US" dirty="0"/>
              <a:t>In your JRE, there exists a </a:t>
            </a:r>
            <a:r>
              <a:rPr lang="en-US" b="1" dirty="0"/>
              <a:t>Garbage</a:t>
            </a:r>
            <a:r>
              <a:rPr lang="en-US" dirty="0"/>
              <a:t> </a:t>
            </a:r>
            <a:r>
              <a:rPr lang="en-US" b="1" dirty="0"/>
              <a:t>Collector</a:t>
            </a:r>
            <a:r>
              <a:rPr lang="en-US" dirty="0"/>
              <a:t> (GC) which is responsible for clearing up inaccessible memory</a:t>
            </a:r>
          </a:p>
        </p:txBody>
      </p:sp>
    </p:spTree>
    <p:extLst>
      <p:ext uri="{BB962C8B-B14F-4D97-AF65-F5344CB8AC3E}">
        <p14:creationId xmlns:p14="http://schemas.microsoft.com/office/powerpoint/2010/main" val="416459259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AF603-AF2C-C825-BCA7-1B50BF211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Observing how Objects are Cleaned 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1B7B03-BA53-5183-CF78-3DA383B8AD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finalize method can be implemented to see when the garbage collector is cleaning up the unusable/unreachable object.</a:t>
            </a:r>
          </a:p>
          <a:p>
            <a:r>
              <a:rPr lang="en-US" dirty="0"/>
              <a:t>The GC calls the finalize method when freeing the space used by the object.</a:t>
            </a:r>
          </a:p>
        </p:txBody>
      </p:sp>
    </p:spTree>
    <p:extLst>
      <p:ext uri="{BB962C8B-B14F-4D97-AF65-F5344CB8AC3E}">
        <p14:creationId xmlns:p14="http://schemas.microsoft.com/office/powerpoint/2010/main" val="148326185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C6DF0-3255-15AD-E5D7-133FCD434D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Finalize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F2BDD0-7C33-F08E-A0C2-8EA895F905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This goes inside your class (you never call this yourself – GC calls it)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protected</a:t>
            </a:r>
            <a:r>
              <a:rPr lang="en-US" dirty="0"/>
              <a:t> </a:t>
            </a:r>
            <a:r>
              <a:rPr lang="en-US" b="1" dirty="0"/>
              <a:t>void</a:t>
            </a:r>
            <a:r>
              <a:rPr lang="en-US" dirty="0"/>
              <a:t> </a:t>
            </a:r>
            <a:r>
              <a:rPr lang="en-US" b="1" dirty="0"/>
              <a:t>finalize</a:t>
            </a:r>
            <a:r>
              <a:rPr lang="en-US" dirty="0"/>
              <a:t>() {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 err="1"/>
              <a:t>System.out.println</a:t>
            </a:r>
            <a:r>
              <a:rPr lang="en-US" dirty="0"/>
              <a:t>("Object destroyed");</a:t>
            </a:r>
          </a:p>
          <a:p>
            <a:pPr marL="0" indent="0">
              <a:buNone/>
            </a:pPr>
            <a:r>
              <a:rPr lang="en-US" dirty="0"/>
              <a:t>	}</a:t>
            </a:r>
          </a:p>
        </p:txBody>
      </p:sp>
    </p:spTree>
    <p:extLst>
      <p:ext uri="{BB962C8B-B14F-4D97-AF65-F5344CB8AC3E}">
        <p14:creationId xmlns:p14="http://schemas.microsoft.com/office/powerpoint/2010/main" val="106366105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48983-E974-F176-7947-3F17D7173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Requesting to Invoke GC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5260BD-F8E1-6EF0-7A84-3B4B925F04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When an object/memory becomes inaccessible, the GC can free that memory.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c1 = </a:t>
            </a:r>
            <a:r>
              <a:rPr lang="en-US" b="1" dirty="0"/>
              <a:t>null;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c2 = </a:t>
            </a:r>
            <a:r>
              <a:rPr lang="en-US" b="1" dirty="0"/>
              <a:t>null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c3 = </a:t>
            </a:r>
            <a:r>
              <a:rPr lang="en-US" b="1" dirty="0"/>
              <a:t>null;</a:t>
            </a:r>
          </a:p>
          <a:p>
            <a:pPr marL="0" indent="0">
              <a:buNone/>
            </a:pPr>
            <a:r>
              <a:rPr lang="en-US" dirty="0" err="1"/>
              <a:t>System.</a:t>
            </a:r>
            <a:r>
              <a:rPr lang="en-US" i="1" dirty="0" err="1"/>
              <a:t>gc</a:t>
            </a:r>
            <a:r>
              <a:rPr lang="en-US" i="1" dirty="0"/>
              <a:t>();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System.gc</a:t>
            </a:r>
            <a:r>
              <a:rPr lang="en-US" dirty="0"/>
              <a:t>() is a function that we can use to invoke the GC. </a:t>
            </a:r>
            <a:r>
              <a:rPr lang="en-US" b="1" dirty="0"/>
              <a:t>However!! JVM may ignore the request completely.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513656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A2FB6C-2AE9-134D-6034-F2D1EB5C4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Static Keyword in Java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AD43C2-D5AA-492E-25DC-51BBD18324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static</a:t>
            </a:r>
            <a:r>
              <a:rPr lang="en-US" dirty="0"/>
              <a:t> means the member </a:t>
            </a:r>
            <a:r>
              <a:rPr lang="en-US" b="1" dirty="0"/>
              <a:t>belongs to the class itself</a:t>
            </a:r>
            <a:r>
              <a:rPr lang="en-US" dirty="0"/>
              <a:t>, not to any specific object.</a:t>
            </a:r>
          </a:p>
          <a:p>
            <a:r>
              <a:rPr lang="en-US" dirty="0"/>
              <a:t>Memory is allocated </a:t>
            </a:r>
            <a:r>
              <a:rPr lang="en-US" b="1" dirty="0"/>
              <a:t>once </a:t>
            </a:r>
            <a:r>
              <a:rPr lang="en-US" dirty="0"/>
              <a:t>for the data member.</a:t>
            </a:r>
          </a:p>
          <a:p>
            <a:r>
              <a:rPr lang="en-US" dirty="0"/>
              <a:t>Shared by </a:t>
            </a:r>
            <a:r>
              <a:rPr lang="en-US" b="1" dirty="0"/>
              <a:t>all objects</a:t>
            </a:r>
            <a:r>
              <a:rPr lang="en-US" dirty="0"/>
              <a:t> of the class.</a:t>
            </a:r>
          </a:p>
          <a:p>
            <a:r>
              <a:rPr lang="en-US" dirty="0"/>
              <a:t>Accessible </a:t>
            </a:r>
            <a:r>
              <a:rPr lang="en-US" b="1" dirty="0"/>
              <a:t>without creating an object.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232226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F1120-2BBE-61FD-2339-F230A4622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Static Variables (Uses)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DB2CE9-9D12-8114-BF81-BE7BCB9154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Common/shared data</a:t>
            </a:r>
          </a:p>
          <a:p>
            <a:r>
              <a:rPr lang="en-US" dirty="0"/>
              <a:t>Constants (often with final) //we’ll discuss this afterwards</a:t>
            </a:r>
          </a:p>
          <a:p>
            <a:r>
              <a:rPr lang="en-US" dirty="0"/>
              <a:t>Counters</a:t>
            </a:r>
          </a:p>
          <a:p>
            <a:r>
              <a:rPr lang="en-US" dirty="0"/>
              <a:t>Flags</a:t>
            </a:r>
          </a:p>
          <a:p>
            <a:r>
              <a:rPr lang="en-US" dirty="0"/>
              <a:t>Configuration values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221664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507CE-6F69-217D-5684-1F1633C52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Static Data Members -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B02FFC-FFC0-6A80-0109-1FF709E5C5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4449" y="1931437"/>
            <a:ext cx="10554574" cy="4561843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class Student {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b="1" dirty="0">
                <a:solidFill>
                  <a:schemeClr val="accent3"/>
                </a:solidFill>
              </a:rPr>
              <a:t>public static int </a:t>
            </a:r>
            <a:r>
              <a:rPr lang="en-US" b="1" i="1" dirty="0" err="1">
                <a:solidFill>
                  <a:schemeClr val="accent3"/>
                </a:solidFill>
              </a:rPr>
              <a:t>totalStudents</a:t>
            </a:r>
            <a:r>
              <a:rPr lang="en-US" b="1" i="1" dirty="0">
                <a:solidFill>
                  <a:schemeClr val="accent3"/>
                </a:solidFill>
              </a:rPr>
              <a:t> = 0;</a:t>
            </a:r>
          </a:p>
          <a:p>
            <a:pPr marL="0" indent="0">
              <a:buNone/>
            </a:pPr>
            <a:r>
              <a:rPr lang="en-US" dirty="0"/>
              <a:t>    String name;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Student(String name) {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b="1" dirty="0"/>
              <a:t>this.name = name;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i="1" dirty="0" err="1"/>
              <a:t>totalStudents</a:t>
            </a:r>
            <a:r>
              <a:rPr lang="en-US" i="1" dirty="0"/>
              <a:t>++;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Can access it in main as: </a:t>
            </a:r>
            <a:r>
              <a:rPr lang="en-US" b="1" dirty="0" err="1">
                <a:solidFill>
                  <a:schemeClr val="accent3"/>
                </a:solidFill>
              </a:rPr>
              <a:t>Student.totalStudents</a:t>
            </a:r>
            <a:r>
              <a:rPr lang="en-US" b="1" dirty="0">
                <a:solidFill>
                  <a:schemeClr val="accent3"/>
                </a:solidFill>
              </a:rPr>
              <a:t> (as long as it’s public)</a:t>
            </a:r>
          </a:p>
        </p:txBody>
      </p:sp>
    </p:spTree>
    <p:extLst>
      <p:ext uri="{BB962C8B-B14F-4D97-AF65-F5344CB8AC3E}">
        <p14:creationId xmlns:p14="http://schemas.microsoft.com/office/powerpoint/2010/main" val="390186290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410657-E00B-DD7E-F678-8DBB7788C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Static Member Functions -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9A59CB-3C3A-3D0E-8CA1-B0C7144DDA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class </a:t>
            </a:r>
            <a:r>
              <a:rPr lang="en-US" b="1" dirty="0" err="1"/>
              <a:t>MathUtil</a:t>
            </a:r>
            <a:r>
              <a:rPr lang="en-US" b="1" dirty="0"/>
              <a:t> {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b="1" dirty="0"/>
              <a:t>static int square(int x) {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b="1" dirty="0"/>
              <a:t>return x * x;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Can be called in main like:</a:t>
            </a:r>
          </a:p>
          <a:p>
            <a:pPr marL="0" indent="0">
              <a:buNone/>
            </a:pPr>
            <a:r>
              <a:rPr lang="en-US" b="1" dirty="0" err="1">
                <a:solidFill>
                  <a:schemeClr val="accent3"/>
                </a:solidFill>
              </a:rPr>
              <a:t>MathUtil.square</a:t>
            </a:r>
            <a:r>
              <a:rPr lang="en-US" b="1" dirty="0">
                <a:solidFill>
                  <a:schemeClr val="accent3"/>
                </a:solidFill>
              </a:rPr>
              <a:t>(5);</a:t>
            </a:r>
          </a:p>
        </p:txBody>
      </p:sp>
    </p:spTree>
    <p:extLst>
      <p:ext uri="{BB962C8B-B14F-4D97-AF65-F5344CB8AC3E}">
        <p14:creationId xmlns:p14="http://schemas.microsoft.com/office/powerpoint/2010/main" val="105885272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B991B-517C-7134-F4BE-F2065B083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you can’t do Inside Static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375E5F-FBAF-4FCC-2C45-8D9BA3949E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can’t use:</a:t>
            </a:r>
          </a:p>
          <a:p>
            <a:pPr lvl="1"/>
            <a:r>
              <a:rPr lang="en-US" dirty="0"/>
              <a:t>non-static data members</a:t>
            </a:r>
          </a:p>
          <a:p>
            <a:pPr lvl="1"/>
            <a:r>
              <a:rPr lang="en-US" dirty="0"/>
              <a:t>non-static member functions</a:t>
            </a:r>
          </a:p>
          <a:p>
            <a:pPr lvl="1"/>
            <a:r>
              <a:rPr lang="en-US" dirty="0"/>
              <a:t>this keyword </a:t>
            </a:r>
          </a:p>
          <a:p>
            <a:r>
              <a:rPr lang="en-US" dirty="0"/>
              <a:t>Why can’t you use these?? Let’s discuss</a:t>
            </a:r>
          </a:p>
        </p:txBody>
      </p:sp>
    </p:spTree>
    <p:extLst>
      <p:ext uri="{BB962C8B-B14F-4D97-AF65-F5344CB8AC3E}">
        <p14:creationId xmlns:p14="http://schemas.microsoft.com/office/powerpoint/2010/main" val="49635856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59776-EDD1-E4B0-6AC0-CDB98F88D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“final” Keyword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116E18-8B9F-2C4C-D304-3EE4597E69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Equivalent to “const” that you’ve used in C.</a:t>
            </a:r>
          </a:p>
          <a:p>
            <a:r>
              <a:rPr lang="en-US" dirty="0"/>
              <a:t>However, it’s a little different in java.</a:t>
            </a:r>
          </a:p>
          <a:p>
            <a:endParaRPr lang="en-US" dirty="0"/>
          </a:p>
          <a:p>
            <a:r>
              <a:rPr lang="en-US" dirty="0"/>
              <a:t>A statement like “final int x;” will not give an error.</a:t>
            </a:r>
          </a:p>
          <a:p>
            <a:r>
              <a:rPr lang="en-US" dirty="0"/>
              <a:t>You may initialize the value for it </a:t>
            </a:r>
            <a:r>
              <a:rPr lang="en-US" b="1" dirty="0"/>
              <a:t>one time</a:t>
            </a:r>
            <a:r>
              <a:rPr lang="en-US" dirty="0"/>
              <a:t>, later in the code. It cannot be modified afterwards.</a:t>
            </a:r>
          </a:p>
        </p:txBody>
      </p:sp>
    </p:spTree>
    <p:extLst>
      <p:ext uri="{BB962C8B-B14F-4D97-AF65-F5344CB8AC3E}">
        <p14:creationId xmlns:p14="http://schemas.microsoft.com/office/powerpoint/2010/main" val="398176285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60A6A-585D-F2A1-2CE6-6214EE2A2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“final”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4839FB-399A-D2F2-366C-D98ACAE05C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Work exactly the same way as const values in c.</a:t>
            </a:r>
          </a:p>
          <a:p>
            <a:endParaRPr lang="en-US" dirty="0"/>
          </a:p>
          <a:p>
            <a:r>
              <a:rPr lang="en-US" dirty="0"/>
              <a:t>final int a = 10; </a:t>
            </a:r>
          </a:p>
          <a:p>
            <a:pPr lvl="1"/>
            <a:r>
              <a:rPr lang="en-US" dirty="0"/>
              <a:t>a = 9; a--; </a:t>
            </a:r>
            <a:r>
              <a:rPr lang="en-US" dirty="0" err="1"/>
              <a:t>etc</a:t>
            </a:r>
            <a:r>
              <a:rPr lang="en-US" dirty="0"/>
              <a:t> will give an error.</a:t>
            </a:r>
          </a:p>
          <a:p>
            <a:r>
              <a:rPr lang="en-US" dirty="0"/>
              <a:t>final String str = “can’t change this”;</a:t>
            </a:r>
          </a:p>
          <a:p>
            <a:pPr lvl="1"/>
            <a:r>
              <a:rPr lang="en-US" dirty="0"/>
              <a:t>str = “trying to change this”; //will give an error.</a:t>
            </a:r>
          </a:p>
        </p:txBody>
      </p:sp>
    </p:spTree>
    <p:extLst>
      <p:ext uri="{BB962C8B-B14F-4D97-AF65-F5344CB8AC3E}">
        <p14:creationId xmlns:p14="http://schemas.microsoft.com/office/powerpoint/2010/main" val="245150426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BE8DD-D89F-7941-FB3F-5BB6AE0C3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“final” Objects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511D24-1697-BA6F-93DE-E434AFB973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Making an object final does not make it so that the values inside it don’t change.</a:t>
            </a:r>
          </a:p>
          <a:p>
            <a:r>
              <a:rPr lang="en-US" dirty="0"/>
              <a:t>It only means that the reference to the object is constant (think of constant pointers from C)</a:t>
            </a:r>
          </a:p>
        </p:txBody>
      </p:sp>
    </p:spTree>
    <p:extLst>
      <p:ext uri="{BB962C8B-B14F-4D97-AF65-F5344CB8AC3E}">
        <p14:creationId xmlns:p14="http://schemas.microsoft.com/office/powerpoint/2010/main" val="134749822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56F1F-E497-933D-C5CE-8A586819B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 for “final” keyword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37C7D7-4329-1589-437A-1CB2BB45F2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3561" y="1875453"/>
            <a:ext cx="10554574" cy="4982547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class </a:t>
            </a:r>
            <a:r>
              <a:rPr lang="en-US" dirty="0" err="1"/>
              <a:t>FinalExample</a:t>
            </a:r>
            <a:r>
              <a:rPr lang="en-US" dirty="0"/>
              <a:t> {</a:t>
            </a:r>
          </a:p>
          <a:p>
            <a:pPr marL="0" indent="0">
              <a:buNone/>
            </a:pPr>
            <a:r>
              <a:rPr lang="en-US" dirty="0"/>
              <a:t>	final int ID; </a:t>
            </a:r>
            <a:r>
              <a:rPr lang="en-US" b="1" u="sng" dirty="0">
                <a:solidFill>
                  <a:schemeClr val="accent3"/>
                </a:solidFill>
              </a:rPr>
              <a:t>// needs to be initialized in constructors. Each constructor must provide a way to initialize it.</a:t>
            </a:r>
          </a:p>
          <a:p>
            <a:pPr marL="0" indent="0">
              <a:buNone/>
            </a:pPr>
            <a:r>
              <a:rPr lang="en-US" dirty="0"/>
              <a:t>	static final String </a:t>
            </a:r>
            <a:r>
              <a:rPr lang="en-US" dirty="0" err="1"/>
              <a:t>myMessage</a:t>
            </a:r>
            <a:r>
              <a:rPr lang="en-US" dirty="0"/>
              <a:t> = "This is a static final string; I must be initialized at declaration";</a:t>
            </a:r>
          </a:p>
          <a:p>
            <a:pPr marL="0" indent="0">
              <a:buNone/>
            </a:pPr>
            <a:r>
              <a:rPr lang="en-US" dirty="0"/>
              <a:t>	int num;</a:t>
            </a:r>
          </a:p>
          <a:p>
            <a:pPr marL="0" indent="0">
              <a:buNone/>
            </a:pPr>
            <a:r>
              <a:rPr lang="en-US" dirty="0"/>
              <a:t>	public </a:t>
            </a:r>
            <a:r>
              <a:rPr lang="en-US" dirty="0" err="1"/>
              <a:t>FinalExample</a:t>
            </a:r>
            <a:r>
              <a:rPr lang="en-US" dirty="0"/>
              <a:t>() {</a:t>
            </a:r>
          </a:p>
          <a:p>
            <a:pPr marL="0" indent="0">
              <a:buNone/>
            </a:pPr>
            <a:r>
              <a:rPr lang="en-US" dirty="0"/>
              <a:t>		ID = 0;</a:t>
            </a:r>
          </a:p>
          <a:p>
            <a:pPr marL="0" indent="0">
              <a:buNone/>
            </a:pPr>
            <a:r>
              <a:rPr lang="en-US" dirty="0"/>
              <a:t>		num = 0;</a:t>
            </a:r>
          </a:p>
          <a:p>
            <a:pPr marL="0" indent="0">
              <a:buNone/>
            </a:pPr>
            <a:r>
              <a:rPr lang="en-US" dirty="0"/>
              <a:t>	}</a:t>
            </a:r>
          </a:p>
          <a:p>
            <a:pPr marL="0" indent="0">
              <a:buNone/>
            </a:pPr>
            <a:r>
              <a:rPr lang="en-US" dirty="0"/>
              <a:t>	public </a:t>
            </a:r>
            <a:r>
              <a:rPr lang="en-US" dirty="0" err="1"/>
              <a:t>FinalExample</a:t>
            </a:r>
            <a:r>
              <a:rPr lang="en-US" dirty="0"/>
              <a:t>(int ID) {</a:t>
            </a:r>
          </a:p>
          <a:p>
            <a:pPr marL="0" indent="0">
              <a:buNone/>
            </a:pPr>
            <a:r>
              <a:rPr lang="en-US" dirty="0"/>
              <a:t>		this.ID = ID;</a:t>
            </a:r>
          </a:p>
          <a:p>
            <a:pPr marL="0" indent="0">
              <a:buNone/>
            </a:pPr>
            <a:r>
              <a:rPr lang="en-US" dirty="0"/>
              <a:t>		num = ID;</a:t>
            </a:r>
          </a:p>
          <a:p>
            <a:pPr marL="0" indent="0">
              <a:buNone/>
            </a:pPr>
            <a:r>
              <a:rPr lang="en-US" dirty="0"/>
              <a:t>	}</a:t>
            </a:r>
          </a:p>
          <a:p>
            <a:pPr marL="0" indent="0">
              <a:buNone/>
            </a:pPr>
            <a:r>
              <a:rPr lang="en-US" dirty="0"/>
              <a:t>	public </a:t>
            </a:r>
            <a:r>
              <a:rPr lang="en-US" dirty="0" err="1"/>
              <a:t>FinalExample</a:t>
            </a:r>
            <a:r>
              <a:rPr lang="en-US" dirty="0"/>
              <a:t>(final </a:t>
            </a:r>
            <a:r>
              <a:rPr lang="en-US" dirty="0" err="1"/>
              <a:t>FinalExample</a:t>
            </a:r>
            <a:r>
              <a:rPr lang="en-US" dirty="0"/>
              <a:t> obj) {</a:t>
            </a:r>
          </a:p>
          <a:p>
            <a:pPr marL="0" indent="0">
              <a:buNone/>
            </a:pPr>
            <a:r>
              <a:rPr lang="en-US" dirty="0"/>
              <a:t>		this.ID = obj.ID;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 err="1"/>
              <a:t>this.num</a:t>
            </a:r>
            <a:r>
              <a:rPr lang="en-US" dirty="0"/>
              <a:t> = </a:t>
            </a:r>
            <a:r>
              <a:rPr lang="en-US" dirty="0" err="1"/>
              <a:t>obj.num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	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4262537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453C0-A165-25B2-A6BC-BEF75CEB00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 for “final” keyword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3D46B1-C5BF-DEF2-6E8E-16A7EEFB45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443977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public static void main(String[] </a:t>
            </a:r>
            <a:r>
              <a:rPr lang="en-US" b="1" dirty="0" err="1"/>
              <a:t>args</a:t>
            </a:r>
            <a:r>
              <a:rPr lang="en-US" b="1" dirty="0"/>
              <a:t>) {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	final int </a:t>
            </a:r>
            <a:r>
              <a:rPr lang="en-US" b="1" u="sng" dirty="0"/>
              <a:t>x</a:t>
            </a:r>
            <a:r>
              <a:rPr lang="en-US" b="1" dirty="0"/>
              <a:t>;</a:t>
            </a:r>
          </a:p>
          <a:p>
            <a:pPr marL="0" indent="0">
              <a:buNone/>
            </a:pPr>
            <a:r>
              <a:rPr lang="en-US" dirty="0"/>
              <a:t>	x = 10; //can initialize it one time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u="sng" dirty="0">
                <a:solidFill>
                  <a:srgbClr val="FF0000"/>
                </a:solidFill>
              </a:rPr>
              <a:t>x = 100; //error</a:t>
            </a:r>
          </a:p>
          <a:p>
            <a:pPr marL="0" indent="0">
              <a:buNone/>
            </a:pPr>
            <a:r>
              <a:rPr lang="en-US" b="1" dirty="0"/>
              <a:t>	final </a:t>
            </a:r>
            <a:r>
              <a:rPr lang="en-US" b="1" dirty="0" err="1"/>
              <a:t>FinalExample</a:t>
            </a:r>
            <a:r>
              <a:rPr lang="en-US" b="1" dirty="0"/>
              <a:t> </a:t>
            </a:r>
            <a:r>
              <a:rPr lang="en-US" b="1" u="sng" dirty="0" err="1"/>
              <a:t>fe</a:t>
            </a:r>
            <a:r>
              <a:rPr lang="en-US" b="1" u="sng" dirty="0"/>
              <a:t> = new </a:t>
            </a:r>
            <a:r>
              <a:rPr lang="en-US" b="1" u="sng" dirty="0" err="1"/>
              <a:t>FinalExample</a:t>
            </a:r>
            <a:r>
              <a:rPr lang="en-US" b="1" u="sng" dirty="0"/>
              <a:t>();</a:t>
            </a:r>
            <a:r>
              <a:rPr lang="en-US" b="1" dirty="0"/>
              <a:t> //reference for </a:t>
            </a:r>
            <a:r>
              <a:rPr lang="en-US" b="1" dirty="0" err="1"/>
              <a:t>fe</a:t>
            </a:r>
            <a:r>
              <a:rPr lang="en-US" b="1" dirty="0"/>
              <a:t> is constant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u="sng" dirty="0" err="1">
                <a:solidFill>
                  <a:srgbClr val="FF0000"/>
                </a:solidFill>
              </a:rPr>
              <a:t>fe</a:t>
            </a:r>
            <a:r>
              <a:rPr lang="en-US" u="sng" dirty="0">
                <a:solidFill>
                  <a:srgbClr val="FF0000"/>
                </a:solidFill>
              </a:rPr>
              <a:t> = null; //error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	</a:t>
            </a:r>
            <a:r>
              <a:rPr lang="en-US" u="sng" dirty="0" err="1">
                <a:solidFill>
                  <a:srgbClr val="FF0000"/>
                </a:solidFill>
              </a:rPr>
              <a:t>fe</a:t>
            </a:r>
            <a:r>
              <a:rPr lang="en-US" u="sng" dirty="0">
                <a:solidFill>
                  <a:srgbClr val="FF0000"/>
                </a:solidFill>
              </a:rPr>
              <a:t> = new </a:t>
            </a:r>
            <a:r>
              <a:rPr lang="en-US" u="sng" dirty="0" err="1">
                <a:solidFill>
                  <a:srgbClr val="FF0000"/>
                </a:solidFill>
              </a:rPr>
              <a:t>FinalExample</a:t>
            </a:r>
            <a:r>
              <a:rPr lang="en-US" u="sng" dirty="0">
                <a:solidFill>
                  <a:srgbClr val="FF0000"/>
                </a:solidFill>
              </a:rPr>
              <a:t>(); //error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u="sng" dirty="0">
                <a:solidFill>
                  <a:srgbClr val="FF0000"/>
                </a:solidFill>
              </a:rPr>
              <a:t>fe.ID = 10; //error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fe.num</a:t>
            </a:r>
            <a:r>
              <a:rPr lang="en-US" dirty="0"/>
              <a:t> = 999; </a:t>
            </a:r>
            <a:endParaRPr lang="en-US" u="sng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69784151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8B1A518-14F6-11E9-106F-DBDC6A240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788D74-2E0F-86C2-4154-F924490BD8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442578" y="5206556"/>
            <a:ext cx="659875" cy="433955"/>
          </a:xfrm>
        </p:spPr>
        <p:txBody>
          <a:bodyPr/>
          <a:lstStyle/>
          <a:p>
            <a:r>
              <a:rPr lang="en-US" dirty="0"/>
              <a:t>O-o</a:t>
            </a:r>
          </a:p>
        </p:txBody>
      </p:sp>
    </p:spTree>
    <p:extLst>
      <p:ext uri="{BB962C8B-B14F-4D97-AF65-F5344CB8AC3E}">
        <p14:creationId xmlns:p14="http://schemas.microsoft.com/office/powerpoint/2010/main" val="327072798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">
  <a:themeElements>
    <a:clrScheme name="Custom 1">
      <a:dk1>
        <a:srgbClr val="212121"/>
      </a:dk1>
      <a:lt1>
        <a:srgbClr val="212121"/>
      </a:lt1>
      <a:dk2>
        <a:srgbClr val="F2F2F2"/>
      </a:dk2>
      <a:lt2>
        <a:srgbClr val="636363"/>
      </a:lt2>
      <a:accent1>
        <a:srgbClr val="843AAB"/>
      </a:accent1>
      <a:accent2>
        <a:srgbClr val="E19933"/>
      </a:accent2>
      <a:accent3>
        <a:srgbClr val="DC5D3D"/>
      </a:accent3>
      <a:accent4>
        <a:srgbClr val="A967CB"/>
      </a:accent4>
      <a:accent5>
        <a:srgbClr val="5EA5DD"/>
      </a:accent5>
      <a:accent6>
        <a:srgbClr val="44BEA9"/>
      </a:accent6>
      <a:hlink>
        <a:srgbClr val="002060"/>
      </a:hlink>
      <a:folHlink>
        <a:srgbClr val="0070C0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7AF46513-5B0D-4B03-9323-32F3F0BFC9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Quotable</Template>
  <TotalTime>2114</TotalTime>
  <Words>2721</Words>
  <Application>Microsoft Office PowerPoint</Application>
  <PresentationFormat>Widescreen</PresentationFormat>
  <Paragraphs>364</Paragraphs>
  <Slides>42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7" baseType="lpstr">
      <vt:lpstr>Calibri</vt:lpstr>
      <vt:lpstr>Century Gothic</vt:lpstr>
      <vt:lpstr>Courier New</vt:lpstr>
      <vt:lpstr>Wingdings 2</vt:lpstr>
      <vt:lpstr>Quotable</vt:lpstr>
      <vt:lpstr>Introduction to Object-Oriented Programming</vt:lpstr>
      <vt:lpstr>Constructors</vt:lpstr>
      <vt:lpstr>How are constructors different from member functions?</vt:lpstr>
      <vt:lpstr>Types of Constructors</vt:lpstr>
      <vt:lpstr>Default Constructor – if not declared…</vt:lpstr>
      <vt:lpstr>Output?</vt:lpstr>
      <vt:lpstr>Output?</vt:lpstr>
      <vt:lpstr>So… We should define our own…</vt:lpstr>
      <vt:lpstr>Lil’ Bit more about Constructors</vt:lpstr>
      <vt:lpstr>Parameterized Constructor</vt:lpstr>
      <vt:lpstr>Let’s define some for our Cat!</vt:lpstr>
      <vt:lpstr>The “this” Keyword</vt:lpstr>
      <vt:lpstr>Applying Fixes</vt:lpstr>
      <vt:lpstr>Calling the Constructor</vt:lpstr>
      <vt:lpstr>Constructor Overloading</vt:lpstr>
      <vt:lpstr>Overloading Parameterized Constructors</vt:lpstr>
      <vt:lpstr>Calling Overloaded Constructors</vt:lpstr>
      <vt:lpstr>Another Type: Copy Constructor</vt:lpstr>
      <vt:lpstr>Why do we need a Copy Constructor?</vt:lpstr>
      <vt:lpstr>Why does this happen?</vt:lpstr>
      <vt:lpstr>The Fixed Version</vt:lpstr>
      <vt:lpstr>But hmm… Something’s still wrong…</vt:lpstr>
      <vt:lpstr>How to Fix This?</vt:lpstr>
      <vt:lpstr>Modified Parameterized Constructor</vt:lpstr>
      <vt:lpstr>Modified Copy Constructor</vt:lpstr>
      <vt:lpstr>The Concept of Shallow and Deep Copy</vt:lpstr>
      <vt:lpstr>Destructors in Java</vt:lpstr>
      <vt:lpstr>Java  v/s C++</vt:lpstr>
      <vt:lpstr>Observing how Objects are Cleaned Up</vt:lpstr>
      <vt:lpstr>The Finalize Method</vt:lpstr>
      <vt:lpstr>Requesting to Invoke GC</vt:lpstr>
      <vt:lpstr>Static Keyword in Java</vt:lpstr>
      <vt:lpstr>Static Variables (Uses)</vt:lpstr>
      <vt:lpstr>Static Data Members - Example</vt:lpstr>
      <vt:lpstr>Static Member Functions - Example</vt:lpstr>
      <vt:lpstr>What you can’t do Inside Static Functions</vt:lpstr>
      <vt:lpstr>The “final” Keyword</vt:lpstr>
      <vt:lpstr>“final” Variables</vt:lpstr>
      <vt:lpstr>“final” Objects</vt:lpstr>
      <vt:lpstr>Examples for “final” keyword</vt:lpstr>
      <vt:lpstr>Examples for “final” keyword</vt:lpstr>
      <vt:lpstr>Fin.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Abeeha Sattar</dc:creator>
  <cp:lastModifiedBy>Abeeha Sattar</cp:lastModifiedBy>
  <cp:revision>298</cp:revision>
  <dcterms:created xsi:type="dcterms:W3CDTF">2026-01-19T10:14:09Z</dcterms:created>
  <dcterms:modified xsi:type="dcterms:W3CDTF">2026-02-12T09:05:30Z</dcterms:modified>
</cp:coreProperties>
</file>