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0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88" r:id="rId11"/>
    <p:sldId id="295" r:id="rId12"/>
    <p:sldId id="296" r:id="rId13"/>
    <p:sldId id="297" r:id="rId14"/>
    <p:sldId id="298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306" r:id="rId23"/>
    <p:sldId id="319" r:id="rId24"/>
    <p:sldId id="307" r:id="rId25"/>
    <p:sldId id="285" r:id="rId26"/>
    <p:sldId id="286" r:id="rId27"/>
    <p:sldId id="287" r:id="rId28"/>
    <p:sldId id="308" r:id="rId29"/>
    <p:sldId id="322" r:id="rId30"/>
    <p:sldId id="309" r:id="rId31"/>
    <p:sldId id="323" r:id="rId32"/>
    <p:sldId id="311" r:id="rId33"/>
    <p:sldId id="324" r:id="rId34"/>
    <p:sldId id="325" r:id="rId35"/>
    <p:sldId id="328" r:id="rId36"/>
    <p:sldId id="329" r:id="rId37"/>
    <p:sldId id="330" r:id="rId38"/>
    <p:sldId id="32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83983-76FC-45E4-9D2E-5BF600E779F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00A8A-A788-4087-8DDE-D7AAB497B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2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75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39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55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9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79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57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635BC-CC39-4540-B83C-CDDDF8ABA6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3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6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5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4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0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37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8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6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7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6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00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8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7A59EB5-A579-4B4A-96F2-3926C69A35B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C3C26B0-367A-440C-A9B2-16269000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96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798B-A91E-ED1A-F4C6-5031904AF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722636" cy="2971051"/>
          </a:xfrm>
        </p:spPr>
        <p:txBody>
          <a:bodyPr/>
          <a:lstStyle/>
          <a:p>
            <a:pPr algn="ctr"/>
            <a:r>
              <a:rPr lang="en-US" dirty="0"/>
              <a:t>Introduction to 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1EF6E-E43C-AEED-3DC0-2B9095517F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191305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CE8D-85C0-AF72-5EBE-09E9E2B3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Intro to Java Execution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EB7C-00A7-82D0-2742-8CEF7B7D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 – Create/edit the source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Compile</a:t>
            </a:r>
            <a:r>
              <a:rPr lang="en-US" dirty="0"/>
              <a:t> – Compile the source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Load</a:t>
            </a:r>
            <a:r>
              <a:rPr lang="en-US" dirty="0"/>
              <a:t> – Load the compiled code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Verify</a:t>
            </a:r>
            <a:r>
              <a:rPr lang="en-US" dirty="0"/>
              <a:t> – Check against security restrictions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b="1" dirty="0"/>
              <a:t>Execute</a:t>
            </a:r>
            <a:r>
              <a:rPr lang="en-US" dirty="0"/>
              <a:t> – Execute the compiled</a:t>
            </a:r>
          </a:p>
        </p:txBody>
      </p:sp>
    </p:spTree>
    <p:extLst>
      <p:ext uri="{BB962C8B-B14F-4D97-AF65-F5344CB8AC3E}">
        <p14:creationId xmlns:p14="http://schemas.microsoft.com/office/powerpoint/2010/main" val="196201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3079-FB35-7F77-A9E9-29D407ED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Platform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AA623E-42E3-C1CF-277C-C32639FCB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r="158" b="531"/>
          <a:stretch/>
        </p:blipFill>
        <p:spPr>
          <a:xfrm>
            <a:off x="2402369" y="1894113"/>
            <a:ext cx="7928449" cy="4963887"/>
          </a:xfrm>
        </p:spPr>
      </p:pic>
    </p:spTree>
    <p:extLst>
      <p:ext uri="{BB962C8B-B14F-4D97-AF65-F5344CB8AC3E}">
        <p14:creationId xmlns:p14="http://schemas.microsoft.com/office/powerpoint/2010/main" val="303759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6602-27E8-16A3-7C90-7A488B14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025B-6906-0788-814F-E8C1B476A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not machine language binary code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independent of any particular microprocessor or hardware platform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They are platform‐independent instructions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Another entity (interpreter) is required to convert the bytecodes into machine codes that the underlying microprocessor understands</a:t>
            </a:r>
          </a:p>
          <a:p>
            <a:pPr marL="457200" lvl="1" indent="0">
              <a:buNone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This is the job of the JVM (Java Virtual Machine)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1469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86B4-A450-96A4-3E76-BF6FCE42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6B36-1630-7C4C-E7CD-F7E525FC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561068"/>
          </a:xfrm>
        </p:spPr>
        <p:txBody>
          <a:bodyPr>
            <a:normAutofit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 a part of the JDK and the foundation of the Java platform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can be installed separately or with JDK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 virtual machine (VM) is a software application that simulates a computer, but hides the underlying operating system and hardware from the programs that interact with the VM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 the JVM that makes Java a portable language</a:t>
            </a:r>
          </a:p>
        </p:txBody>
      </p:sp>
    </p:spTree>
    <p:extLst>
      <p:ext uri="{BB962C8B-B14F-4D97-AF65-F5344CB8AC3E}">
        <p14:creationId xmlns:p14="http://schemas.microsoft.com/office/powerpoint/2010/main" val="335574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83FF-8661-5E99-C458-1AD07095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(Java Virtual Machine)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3E954-64BF-91DE-73A4-882BB183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58431"/>
          </a:xfrm>
        </p:spPr>
        <p:txBody>
          <a:bodyPr>
            <a:normAutofit lnSpcReduction="10000"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same bytecodes can be executed on any platform containing a compatible JVM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JVM is invoked by the java command – </a:t>
            </a:r>
            <a:r>
              <a:rPr lang="en-US" sz="2400" b="1" dirty="0">
                <a:solidFill>
                  <a:schemeClr val="accent2"/>
                </a:solidFill>
              </a:rPr>
              <a:t>java Welcome</a:t>
            </a: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searches the class Welcome in the current directory and executes the main method of </a:t>
            </a:r>
            <a:r>
              <a:rPr lang="en-US" sz="2400" b="1" dirty="0">
                <a:solidFill>
                  <a:schemeClr val="accent2"/>
                </a:solidFill>
              </a:rPr>
              <a:t>class Welcome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It issues an error if it cannot find the class </a:t>
            </a:r>
            <a:r>
              <a:rPr lang="en-US" sz="2400" i="1" dirty="0"/>
              <a:t>Welcome</a:t>
            </a:r>
            <a:r>
              <a:rPr lang="en-US" sz="2400" dirty="0"/>
              <a:t> or if class </a:t>
            </a:r>
            <a:r>
              <a:rPr lang="en-US" sz="2400" i="1" dirty="0"/>
              <a:t>Welcome</a:t>
            </a:r>
            <a:r>
              <a:rPr lang="en-US" sz="2400" dirty="0"/>
              <a:t> does not contain a method called main with proper signature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9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0394-2C63-876A-3D85-9E5DB2E8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JIT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1459-AD22-E056-526D-29DC779E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When a JIT compiler is part of the JVM, selected portions of bytecode are compiled into executable code in real time, on a piece-by-piece, demand basis.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An entire Java program is not compiled into executable code all at once, in this case.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Not all sequences of bytecode are compiled—only those that will benefit from compilation.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400" dirty="0"/>
              <a:t>The remaining code is simply interpreted.</a:t>
            </a:r>
          </a:p>
        </p:txBody>
      </p:sp>
    </p:spTree>
    <p:extLst>
      <p:ext uri="{BB962C8B-B14F-4D97-AF65-F5344CB8AC3E}">
        <p14:creationId xmlns:p14="http://schemas.microsoft.com/office/powerpoint/2010/main" val="236424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267B-F7AC-F055-669A-F8DE787B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20B60-3230-752D-2857-AE8E72F4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 err="1">
                <a:solidFill>
                  <a:schemeClr val="accent2"/>
                </a:solidFill>
              </a:rPr>
              <a:t>javac</a:t>
            </a:r>
            <a:r>
              <a:rPr lang="en-US" sz="2400" b="1" dirty="0">
                <a:solidFill>
                  <a:schemeClr val="accent2"/>
                </a:solidFill>
              </a:rPr>
              <a:t> &lt;filename&gt;.java </a:t>
            </a:r>
            <a:r>
              <a:rPr lang="en-US" sz="2400" dirty="0"/>
              <a:t>to compile a java file using the command prompt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>
                <a:solidFill>
                  <a:schemeClr val="accent2"/>
                </a:solidFill>
              </a:rPr>
              <a:t>java &lt;</a:t>
            </a:r>
            <a:r>
              <a:rPr lang="en-US" sz="2400" b="1" dirty="0" err="1">
                <a:solidFill>
                  <a:schemeClr val="accent2"/>
                </a:solidFill>
              </a:rPr>
              <a:t>classname</a:t>
            </a:r>
            <a:r>
              <a:rPr lang="en-US" sz="2400" b="1" dirty="0">
                <a:solidFill>
                  <a:schemeClr val="accent2"/>
                </a:solidFill>
              </a:rPr>
              <a:t>&gt; </a:t>
            </a:r>
            <a:r>
              <a:rPr lang="en-US" sz="2400" dirty="0"/>
              <a:t>to execute the class file that was generated by the </a:t>
            </a:r>
            <a:r>
              <a:rPr lang="en-US" sz="2400" dirty="0" err="1"/>
              <a:t>javac</a:t>
            </a:r>
            <a:r>
              <a:rPr lang="en-US" sz="2400" dirty="0"/>
              <a:t> command.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4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202F9D-9AA4-0D65-FA47-53BDB468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Diagrams </a:t>
            </a: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r>
              <a:rPr lang="en-US" dirty="0"/>
              <a:t>Basic Syntax for Classes</a:t>
            </a:r>
          </a:p>
        </p:txBody>
      </p:sp>
    </p:spTree>
    <p:extLst>
      <p:ext uri="{BB962C8B-B14F-4D97-AF65-F5344CB8AC3E}">
        <p14:creationId xmlns:p14="http://schemas.microsoft.com/office/powerpoint/2010/main" val="357992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 name </a:t>
            </a:r>
            <a:r>
              <a:rPr lang="en-US" dirty="0"/>
              <a:t>(or identifier): identifies the class.</a:t>
            </a:r>
          </a:p>
          <a:p>
            <a:r>
              <a:rPr lang="en-US" b="1" dirty="0"/>
              <a:t>Data Members </a:t>
            </a:r>
            <a:r>
              <a:rPr lang="en-US" dirty="0"/>
              <a:t>or </a:t>
            </a:r>
            <a:r>
              <a:rPr lang="en-US" b="1" dirty="0"/>
              <a:t>Variables</a:t>
            </a:r>
            <a:r>
              <a:rPr lang="en-US" dirty="0"/>
              <a:t> (or attributes, states, fields): contains the  </a:t>
            </a:r>
            <a:br>
              <a:rPr lang="en-US" dirty="0"/>
            </a:br>
            <a:r>
              <a:rPr lang="en-US" dirty="0"/>
              <a:t>attributes of the class.</a:t>
            </a:r>
          </a:p>
          <a:p>
            <a:r>
              <a:rPr lang="en-US" b="1" dirty="0"/>
              <a:t>Member</a:t>
            </a:r>
            <a:r>
              <a:rPr lang="en-US" dirty="0"/>
              <a:t> </a:t>
            </a:r>
            <a:r>
              <a:rPr lang="en-US" b="1" dirty="0"/>
              <a:t>Functions</a:t>
            </a:r>
            <a:r>
              <a:rPr lang="en-US" dirty="0"/>
              <a:t> (or methods, behaviors, operations): contains the </a:t>
            </a:r>
            <a:br>
              <a:rPr lang="en-US" dirty="0"/>
            </a:br>
            <a:r>
              <a:rPr lang="en-US" dirty="0"/>
              <a:t>dynamic operations of the class.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EE80F-22F4-258B-8539-D4EA9866FE39}"/>
              </a:ext>
            </a:extLst>
          </p:cNvPr>
          <p:cNvSpPr/>
          <p:nvPr/>
        </p:nvSpPr>
        <p:spPr>
          <a:xfrm>
            <a:off x="9496360" y="2855495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Class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4D33A-2FB9-08C6-C44E-27406AEE1129}"/>
              </a:ext>
            </a:extLst>
          </p:cNvPr>
          <p:cNvSpPr/>
          <p:nvPr/>
        </p:nvSpPr>
        <p:spPr>
          <a:xfrm>
            <a:off x="9496360" y="3224462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Data 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EDF16-4CEE-D594-AA80-C213134B3D68}"/>
              </a:ext>
            </a:extLst>
          </p:cNvPr>
          <p:cNvSpPr/>
          <p:nvPr/>
        </p:nvSpPr>
        <p:spPr>
          <a:xfrm>
            <a:off x="9496360" y="4013954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Member Functions</a:t>
            </a:r>
          </a:p>
        </p:txBody>
      </p:sp>
    </p:spTree>
    <p:extLst>
      <p:ext uri="{BB962C8B-B14F-4D97-AF65-F5344CB8AC3E}">
        <p14:creationId xmlns:p14="http://schemas.microsoft.com/office/powerpoint/2010/main" val="2284854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258C9-E3D8-87BA-8FCF-B60FA79A080A}"/>
              </a:ext>
            </a:extLst>
          </p:cNvPr>
          <p:cNvSpPr/>
          <p:nvPr/>
        </p:nvSpPr>
        <p:spPr>
          <a:xfrm>
            <a:off x="1250718" y="2791326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Class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875A3-D128-7659-2C2E-471EF09774BB}"/>
              </a:ext>
            </a:extLst>
          </p:cNvPr>
          <p:cNvSpPr/>
          <p:nvPr/>
        </p:nvSpPr>
        <p:spPr>
          <a:xfrm>
            <a:off x="1250718" y="3160293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Data 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6BB08-E8F9-263E-F80D-ED27B49AE295}"/>
              </a:ext>
            </a:extLst>
          </p:cNvPr>
          <p:cNvSpPr/>
          <p:nvPr/>
        </p:nvSpPr>
        <p:spPr>
          <a:xfrm>
            <a:off x="1250718" y="3949785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/>
                </a:solidFill>
              </a:rPr>
              <a:t>Member Functions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8D73B6-9A04-00BB-6B0F-ED34802B1118}"/>
              </a:ext>
            </a:extLst>
          </p:cNvPr>
          <p:cNvSpPr/>
          <p:nvPr/>
        </p:nvSpPr>
        <p:spPr>
          <a:xfrm>
            <a:off x="5157537" y="2037803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Person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D3AAC-1FCE-EC07-7871-3F55E249D065}"/>
              </a:ext>
            </a:extLst>
          </p:cNvPr>
          <p:cNvSpPr/>
          <p:nvPr/>
        </p:nvSpPr>
        <p:spPr>
          <a:xfrm>
            <a:off x="5157537" y="2406770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-Name : String</a:t>
            </a:r>
          </a:p>
          <a:p>
            <a:r>
              <a:rPr lang="en-US" b="1" dirty="0">
                <a:solidFill>
                  <a:schemeClr val="bg2"/>
                </a:solidFill>
              </a:rPr>
              <a:t>-Age : 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D87656-64E7-AAF5-81AD-D48F1F10DE39}"/>
              </a:ext>
            </a:extLst>
          </p:cNvPr>
          <p:cNvSpPr/>
          <p:nvPr/>
        </p:nvSpPr>
        <p:spPr>
          <a:xfrm>
            <a:off x="5157537" y="3196262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+Walk():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+Talk():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+Eat(): void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BEA31D-A649-4302-3B07-CF38A605EF5F}"/>
              </a:ext>
            </a:extLst>
          </p:cNvPr>
          <p:cNvSpPr/>
          <p:nvPr/>
        </p:nvSpPr>
        <p:spPr>
          <a:xfrm>
            <a:off x="5157537" y="4411000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bg2"/>
                </a:solidFill>
              </a:rPr>
              <a:t>Pokemon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45BF8B-8BF2-2293-A954-1B4BCD20CB1C}"/>
              </a:ext>
            </a:extLst>
          </p:cNvPr>
          <p:cNvSpPr/>
          <p:nvPr/>
        </p:nvSpPr>
        <p:spPr>
          <a:xfrm>
            <a:off x="5157537" y="4779967"/>
            <a:ext cx="1876926" cy="88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Type : String[]</a:t>
            </a:r>
          </a:p>
          <a:p>
            <a:r>
              <a:rPr lang="en-US" b="1" dirty="0">
                <a:solidFill>
                  <a:schemeClr val="bg2"/>
                </a:solidFill>
              </a:rPr>
              <a:t>Height : float</a:t>
            </a:r>
          </a:p>
          <a:p>
            <a:r>
              <a:rPr lang="en-US" b="1" dirty="0">
                <a:solidFill>
                  <a:schemeClr val="bg2"/>
                </a:solidFill>
              </a:rPr>
              <a:t>Weight : float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DBE11-933E-4533-1B21-1538431F8311}"/>
              </a:ext>
            </a:extLst>
          </p:cNvPr>
          <p:cNvSpPr/>
          <p:nvPr/>
        </p:nvSpPr>
        <p:spPr>
          <a:xfrm>
            <a:off x="5157537" y="5661041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+Attack():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+Dodge(): void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7C8A22-AA74-5365-38C2-F4C0DAF84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477" y="2037803"/>
            <a:ext cx="1504069" cy="215766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D96BC0-160D-24C5-BD6E-B3A03920174C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3127644" y="2222287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5B0939-EF5E-D832-77DE-B44AD860CF67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127644" y="2801517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2DDC10-06F7-168B-CBD0-45C4C718579C}"/>
              </a:ext>
            </a:extLst>
          </p:cNvPr>
          <p:cNvCxnSpPr>
            <a:stCxn id="6" idx="3"/>
            <a:endCxn id="9" idx="1"/>
          </p:cNvCxnSpPr>
          <p:nvPr/>
        </p:nvCxnSpPr>
        <p:spPr>
          <a:xfrm flipV="1">
            <a:off x="3127644" y="3695864"/>
            <a:ext cx="2029893" cy="75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07FD9-CFA9-0C7C-FA08-1FAA45DEAE43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127644" y="2975810"/>
            <a:ext cx="2029893" cy="1619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970088-8547-8347-FDC0-B9654D9BE35D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127644" y="3555040"/>
            <a:ext cx="2029893" cy="1665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CF6B1B-57D9-6D22-26A9-0337E4FD4780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3127644" y="4449387"/>
            <a:ext cx="2029893" cy="171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Dragonite">
            <a:extLst>
              <a:ext uri="{FF2B5EF4-FFF2-40B4-BE49-F238E27FC236}">
                <a16:creationId xmlns:a16="http://schemas.microsoft.com/office/drawing/2014/main" id="{D58A55D2-EA80-118F-FF3B-EB944F5B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463" y="4364877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4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62C1B8-7CF5-F210-B8BF-B6DE98AFA9E8}"/>
              </a:ext>
            </a:extLst>
          </p:cNvPr>
          <p:cNvSpPr/>
          <p:nvPr/>
        </p:nvSpPr>
        <p:spPr>
          <a:xfrm>
            <a:off x="2109537" y="2743656"/>
            <a:ext cx="2398294" cy="36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bg2"/>
                </a:solidFill>
              </a:rPr>
              <a:t>Emily : 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A0890B-E706-E859-78F0-CEB253009ACE}"/>
              </a:ext>
            </a:extLst>
          </p:cNvPr>
          <p:cNvSpPr/>
          <p:nvPr/>
        </p:nvSpPr>
        <p:spPr>
          <a:xfrm>
            <a:off x="2109537" y="3112623"/>
            <a:ext cx="2398294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Name = “Emily”</a:t>
            </a:r>
          </a:p>
          <a:p>
            <a:r>
              <a:rPr lang="en-US" b="1" dirty="0">
                <a:solidFill>
                  <a:schemeClr val="bg2"/>
                </a:solidFill>
              </a:rPr>
              <a:t>Age = 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6867E-BD7B-84F4-CAB1-809016A90201}"/>
              </a:ext>
            </a:extLst>
          </p:cNvPr>
          <p:cNvSpPr/>
          <p:nvPr/>
        </p:nvSpPr>
        <p:spPr>
          <a:xfrm>
            <a:off x="2109537" y="3902115"/>
            <a:ext cx="2398294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Walk()</a:t>
            </a:r>
          </a:p>
          <a:p>
            <a:r>
              <a:rPr lang="en-US" b="1" dirty="0">
                <a:solidFill>
                  <a:schemeClr val="bg2"/>
                </a:solidFill>
              </a:rPr>
              <a:t>Talk()</a:t>
            </a:r>
          </a:p>
          <a:p>
            <a:r>
              <a:rPr lang="en-US" b="1" dirty="0">
                <a:solidFill>
                  <a:schemeClr val="bg2"/>
                </a:solidFill>
              </a:rPr>
              <a:t>Eat()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246A55-DA35-B86F-4351-AC7DC55C16CF}"/>
              </a:ext>
            </a:extLst>
          </p:cNvPr>
          <p:cNvSpPr/>
          <p:nvPr/>
        </p:nvSpPr>
        <p:spPr>
          <a:xfrm>
            <a:off x="6096000" y="2743656"/>
            <a:ext cx="3176336" cy="3689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err="1">
                <a:solidFill>
                  <a:schemeClr val="bg2"/>
                </a:solidFill>
              </a:rPr>
              <a:t>Dragonite</a:t>
            </a:r>
            <a:r>
              <a:rPr lang="en-US" b="1" u="sng" dirty="0">
                <a:solidFill>
                  <a:schemeClr val="bg2"/>
                </a:solidFill>
              </a:rPr>
              <a:t> : </a:t>
            </a:r>
            <a:r>
              <a:rPr lang="en-US" b="1" u="sng" dirty="0" err="1">
                <a:solidFill>
                  <a:schemeClr val="bg2"/>
                </a:solidFill>
              </a:rPr>
              <a:t>Pokemon</a:t>
            </a:r>
            <a:endParaRPr lang="en-US" b="1" u="sng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BE480-5F51-6994-2330-86D4BF28E640}"/>
              </a:ext>
            </a:extLst>
          </p:cNvPr>
          <p:cNvSpPr/>
          <p:nvPr/>
        </p:nvSpPr>
        <p:spPr>
          <a:xfrm>
            <a:off x="6096001" y="3112623"/>
            <a:ext cx="317633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Type = {“dragon”, “flying”}</a:t>
            </a:r>
          </a:p>
          <a:p>
            <a:r>
              <a:rPr lang="en-US" b="1" dirty="0">
                <a:solidFill>
                  <a:schemeClr val="bg2"/>
                </a:solidFill>
              </a:rPr>
              <a:t>Height = 2.2</a:t>
            </a:r>
          </a:p>
          <a:p>
            <a:r>
              <a:rPr lang="en-US" b="1" dirty="0">
                <a:solidFill>
                  <a:schemeClr val="bg2"/>
                </a:solidFill>
              </a:rPr>
              <a:t>Weight = 210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4BE144-B096-7C74-1A4D-6DFDEBCB957A}"/>
              </a:ext>
            </a:extLst>
          </p:cNvPr>
          <p:cNvSpPr/>
          <p:nvPr/>
        </p:nvSpPr>
        <p:spPr>
          <a:xfrm>
            <a:off x="6096000" y="3902115"/>
            <a:ext cx="3176335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Attack()</a:t>
            </a:r>
          </a:p>
          <a:p>
            <a:r>
              <a:rPr lang="en-US" b="1" dirty="0">
                <a:solidFill>
                  <a:schemeClr val="bg2"/>
                </a:solidFill>
              </a:rPr>
              <a:t>Dodge()</a:t>
            </a:r>
          </a:p>
        </p:txBody>
      </p:sp>
    </p:spTree>
    <p:extLst>
      <p:ext uri="{BB962C8B-B14F-4D97-AF65-F5344CB8AC3E}">
        <p14:creationId xmlns:p14="http://schemas.microsoft.com/office/powerpoint/2010/main" val="305740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map the class diagram to code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	private String Name;</a:t>
            </a:r>
          </a:p>
          <a:p>
            <a:pPr marL="0" indent="0">
              <a:buNone/>
            </a:pPr>
            <a:r>
              <a:rPr lang="en-US" dirty="0"/>
              <a:t>	private int Age;</a:t>
            </a:r>
          </a:p>
          <a:p>
            <a:pPr marL="0" indent="0">
              <a:buNone/>
            </a:pPr>
            <a:r>
              <a:rPr lang="en-US" dirty="0"/>
              <a:t>	public void Walk() {//walk}</a:t>
            </a:r>
          </a:p>
          <a:p>
            <a:pPr marL="0" indent="0">
              <a:buNone/>
            </a:pPr>
            <a:r>
              <a:rPr lang="en-US" dirty="0"/>
              <a:t>	public void Talk() {//talk}</a:t>
            </a:r>
          </a:p>
          <a:p>
            <a:pPr marL="0" indent="0">
              <a:buNone/>
            </a:pPr>
            <a:r>
              <a:rPr lang="en-US" dirty="0"/>
              <a:t>	public void Eat() {//eat}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0560B-0C19-DA98-3797-96B51D80871E}"/>
              </a:ext>
            </a:extLst>
          </p:cNvPr>
          <p:cNvSpPr/>
          <p:nvPr/>
        </p:nvSpPr>
        <p:spPr>
          <a:xfrm>
            <a:off x="9505072" y="2222287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Person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50F62-D7D6-DD3E-DF09-28753B13DA63}"/>
              </a:ext>
            </a:extLst>
          </p:cNvPr>
          <p:cNvSpPr/>
          <p:nvPr/>
        </p:nvSpPr>
        <p:spPr>
          <a:xfrm>
            <a:off x="9505072" y="2591254"/>
            <a:ext cx="1876926" cy="789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-Name : String</a:t>
            </a:r>
          </a:p>
          <a:p>
            <a:r>
              <a:rPr lang="en-US" b="1" dirty="0">
                <a:solidFill>
                  <a:schemeClr val="bg2"/>
                </a:solidFill>
              </a:rPr>
              <a:t>-Age : int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01371-799C-FACB-3728-D1E4D720E236}"/>
              </a:ext>
            </a:extLst>
          </p:cNvPr>
          <p:cNvSpPr/>
          <p:nvPr/>
        </p:nvSpPr>
        <p:spPr>
          <a:xfrm>
            <a:off x="9505072" y="3380746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+Walk() 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+Talk() 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+Eat() : void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2D9D3A-932D-1217-A1DE-8E0CC9B8611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582779" y="2406771"/>
            <a:ext cx="6922293" cy="459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D36D2B-BB06-0A65-BFE4-F8179416C73E}"/>
              </a:ext>
            </a:extLst>
          </p:cNvPr>
          <p:cNvCxnSpPr>
            <a:cxnSpLocks/>
            <a:stCxn id="5" idx="1"/>
            <a:endCxn id="12" idx="1"/>
          </p:cNvCxnSpPr>
          <p:nvPr/>
        </p:nvCxnSpPr>
        <p:spPr>
          <a:xfrm flipH="1">
            <a:off x="3874169" y="2986001"/>
            <a:ext cx="5630903" cy="40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A460FF4-928A-C7E2-D6DE-5558BE5046A0}"/>
              </a:ext>
            </a:extLst>
          </p:cNvPr>
          <p:cNvSpPr/>
          <p:nvPr/>
        </p:nvSpPr>
        <p:spPr>
          <a:xfrm>
            <a:off x="3713748" y="2998612"/>
            <a:ext cx="160421" cy="78949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452CA26-F752-6A06-6146-E6964180B0AC}"/>
              </a:ext>
            </a:extLst>
          </p:cNvPr>
          <p:cNvSpPr/>
          <p:nvPr/>
        </p:nvSpPr>
        <p:spPr>
          <a:xfrm>
            <a:off x="4460197" y="3967899"/>
            <a:ext cx="152399" cy="99920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F5337E-E9D5-BB8A-CD81-1CB84653CC74}"/>
              </a:ext>
            </a:extLst>
          </p:cNvPr>
          <p:cNvCxnSpPr>
            <a:stCxn id="6" idx="1"/>
            <a:endCxn id="13" idx="1"/>
          </p:cNvCxnSpPr>
          <p:nvPr/>
        </p:nvCxnSpPr>
        <p:spPr>
          <a:xfrm flipH="1">
            <a:off x="4612596" y="3880348"/>
            <a:ext cx="4892476" cy="587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12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map the class diagram to code 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				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27EA52-CD4C-1500-262D-FCDB8ED5B5AB}"/>
              </a:ext>
            </a:extLst>
          </p:cNvPr>
          <p:cNvSpPr/>
          <p:nvPr/>
        </p:nvSpPr>
        <p:spPr>
          <a:xfrm>
            <a:off x="6096000" y="2863971"/>
            <a:ext cx="1876926" cy="368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bg2"/>
                </a:solidFill>
              </a:rPr>
              <a:t>Pokemon</a:t>
            </a:r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DC25C-0431-140E-5792-23387E2FAB2C}"/>
              </a:ext>
            </a:extLst>
          </p:cNvPr>
          <p:cNvSpPr/>
          <p:nvPr/>
        </p:nvSpPr>
        <p:spPr>
          <a:xfrm>
            <a:off x="6096000" y="3232938"/>
            <a:ext cx="1876926" cy="881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- Type : string[]</a:t>
            </a:r>
          </a:p>
          <a:p>
            <a:r>
              <a:rPr lang="en-US" b="1" dirty="0">
                <a:solidFill>
                  <a:schemeClr val="bg2"/>
                </a:solidFill>
              </a:rPr>
              <a:t>- Height : float</a:t>
            </a:r>
          </a:p>
          <a:p>
            <a:r>
              <a:rPr lang="en-US" b="1" dirty="0">
                <a:solidFill>
                  <a:schemeClr val="bg2"/>
                </a:solidFill>
              </a:rPr>
              <a:t>- Weight : float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65989-F32B-5F08-ED6D-1FDBE4A91EE8}"/>
              </a:ext>
            </a:extLst>
          </p:cNvPr>
          <p:cNvSpPr/>
          <p:nvPr/>
        </p:nvSpPr>
        <p:spPr>
          <a:xfrm>
            <a:off x="6096000" y="4114012"/>
            <a:ext cx="1876926" cy="999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/>
                </a:solidFill>
              </a:rPr>
              <a:t>+Attack(): void</a:t>
            </a:r>
          </a:p>
          <a:p>
            <a:r>
              <a:rPr lang="en-US" b="1" dirty="0">
                <a:solidFill>
                  <a:schemeClr val="bg2"/>
                </a:solidFill>
              </a:rPr>
              <a:t>+Dodge(): void</a:t>
            </a:r>
          </a:p>
        </p:txBody>
      </p:sp>
    </p:spTree>
    <p:extLst>
      <p:ext uri="{BB962C8B-B14F-4D97-AF65-F5344CB8AC3E}">
        <p14:creationId xmlns:p14="http://schemas.microsoft.com/office/powerpoint/2010/main" val="217204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DA5B-E43D-1F81-40F3-F86F28C1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object of a class: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4E669-4BB7-7203-DA5B-BA2619428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        </a:t>
            </a:r>
          </a:p>
          <a:p>
            <a:pPr marL="0" indent="0">
              <a:buNone/>
            </a:pPr>
            <a:r>
              <a:rPr lang="en-US" dirty="0"/>
              <a:t>	Person Emily;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Pokemon</a:t>
            </a:r>
            <a:r>
              <a:rPr lang="en-US" dirty="0"/>
              <a:t> </a:t>
            </a:r>
            <a:r>
              <a:rPr lang="en-US" dirty="0" err="1"/>
              <a:t>Dragonite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/>
              <a:t>But we can’t access any of the variables we made : (</a:t>
            </a:r>
            <a:br>
              <a:rPr lang="en-US" dirty="0"/>
            </a:br>
            <a:r>
              <a:rPr lang="en-US" dirty="0"/>
              <a:t>How do we fix that?</a:t>
            </a:r>
          </a:p>
        </p:txBody>
      </p:sp>
    </p:spTree>
    <p:extLst>
      <p:ext uri="{BB962C8B-B14F-4D97-AF65-F5344CB8AC3E}">
        <p14:creationId xmlns:p14="http://schemas.microsoft.com/office/powerpoint/2010/main" val="1348906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2399-FEF5-7174-B003-4DD480BB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Modifiers | Access Specifiers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B409-E0D3-2286-4E7A-241CC2A9C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main features of object-oriented programming languages is </a:t>
            </a:r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hiding</a:t>
            </a:r>
            <a:r>
              <a:rPr lang="en-US" dirty="0"/>
              <a:t>. </a:t>
            </a:r>
          </a:p>
          <a:p>
            <a:r>
              <a:rPr lang="en-US" dirty="0"/>
              <a:t>Data hiding refers to restricting access to class members.</a:t>
            </a:r>
          </a:p>
          <a:p>
            <a:endParaRPr lang="en-US" dirty="0"/>
          </a:p>
          <a:p>
            <a:r>
              <a:rPr lang="en-US" dirty="0"/>
              <a:t>Data hiding also becomes important when we are trying to encapsulate our data!</a:t>
            </a:r>
          </a:p>
        </p:txBody>
      </p:sp>
    </p:spTree>
    <p:extLst>
      <p:ext uri="{BB962C8B-B14F-4D97-AF65-F5344CB8AC3E}">
        <p14:creationId xmlns:p14="http://schemas.microsoft.com/office/powerpoint/2010/main" val="3499751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1294-C2F7-2877-98A2-E89B54AE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513977"/>
            <a:ext cx="10571998" cy="970450"/>
          </a:xfrm>
        </p:spPr>
        <p:txBody>
          <a:bodyPr/>
          <a:lstStyle/>
          <a:p>
            <a:r>
              <a:rPr lang="en-US" dirty="0"/>
              <a:t>Types of Access Specifiers: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44F274B-3045-B82F-E698-96835160B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330122"/>
              </p:ext>
            </p:extLst>
          </p:nvPr>
        </p:nvGraphicFramePr>
        <p:xfrm>
          <a:off x="1324947" y="2856982"/>
          <a:ext cx="9245962" cy="314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075">
                  <a:extLst>
                    <a:ext uri="{9D8B030D-6E8A-4147-A177-3AD203B41FA5}">
                      <a16:colId xmlns:a16="http://schemas.microsoft.com/office/drawing/2014/main" val="2247137073"/>
                    </a:ext>
                  </a:extLst>
                </a:gridCol>
                <a:gridCol w="1922106">
                  <a:extLst>
                    <a:ext uri="{9D8B030D-6E8A-4147-A177-3AD203B41FA5}">
                      <a16:colId xmlns:a16="http://schemas.microsoft.com/office/drawing/2014/main" val="799504728"/>
                    </a:ext>
                  </a:extLst>
                </a:gridCol>
                <a:gridCol w="2033892">
                  <a:extLst>
                    <a:ext uri="{9D8B030D-6E8A-4147-A177-3AD203B41FA5}">
                      <a16:colId xmlns:a16="http://schemas.microsoft.com/office/drawing/2014/main" val="165833446"/>
                    </a:ext>
                  </a:extLst>
                </a:gridCol>
                <a:gridCol w="1912775">
                  <a:extLst>
                    <a:ext uri="{9D8B030D-6E8A-4147-A177-3AD203B41FA5}">
                      <a16:colId xmlns:a16="http://schemas.microsoft.com/office/drawing/2014/main" val="3088364462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926075072"/>
                    </a:ext>
                  </a:extLst>
                </a:gridCol>
              </a:tblGrid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Specifier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Same Package (non-subclass)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Same Package (subclass)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Other Package (subclass)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Other Package (non-subclass)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6699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894417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59510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65532"/>
                  </a:ext>
                </a:extLst>
              </a:tr>
              <a:tr h="6261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Default </a:t>
                      </a:r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(when you don’t write anything with the variables/functions)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971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36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33D2-93D1-ADB8-209B-95994712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“public”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5C4B-69CA-44F5-9420-DB123CEC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Fields marked as public can be accessed by anyone</a:t>
            </a:r>
          </a:p>
          <a:p>
            <a:r>
              <a:rPr lang="en-US" dirty="0"/>
              <a:t>Public members are accessible from any part of the program</a:t>
            </a:r>
          </a:p>
          <a:p>
            <a:endParaRPr lang="en-US" dirty="0"/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		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  	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The class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			</a:t>
            </a:r>
            <a:r>
              <a:rPr lang="en-US" b="1" dirty="0">
                <a:solidFill>
                  <a:srgbClr val="0000CD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int member;	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Access specifier - class members go here, 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						// after the specifier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7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BF9A-CCCB-64AC-83AC-22B01A5D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“private”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DE65-ABDD-47FD-D85A-F5926908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Fields marked as private can only be accessed by functions that are a part of that class</a:t>
            </a:r>
          </a:p>
          <a:p>
            <a:r>
              <a:rPr lang="en-US" dirty="0"/>
              <a:t>They are not allowed to be accessed directly by any object or function outside the class</a:t>
            </a:r>
          </a:p>
        </p:txBody>
      </p:sp>
    </p:spTree>
    <p:extLst>
      <p:ext uri="{BB962C8B-B14F-4D97-AF65-F5344CB8AC3E}">
        <p14:creationId xmlns:p14="http://schemas.microsoft.com/office/powerpoint/2010/main" val="343736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E1FA-6C4B-07DA-307F-DAEB746E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“protected”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C978-FE6D-870C-DDA1-58B42667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/>
              <a:t>The protected members can be accessed by the derived/child classes.</a:t>
            </a:r>
          </a:p>
          <a:p>
            <a:r>
              <a:rPr lang="en-US" dirty="0"/>
              <a:t>The protected members can be accessed by everything within the same package as the class as well.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We’ll look more into protected members when practicing inheritance.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now, that is all you need to know!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97971-A7AC-BECC-3E91-AD83AA9FB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82" y="4693732"/>
            <a:ext cx="1258829" cy="1116161"/>
          </a:xfrm>
          <a:prstGeom prst="rect">
            <a:avLst/>
          </a:prstGeom>
          <a:scene3d>
            <a:camera prst="orthographicFront">
              <a:rot lat="60000" lon="10800000" rev="0"/>
            </a:camera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AE9E52-98B0-240A-3544-ABC56809F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32" y="3275861"/>
            <a:ext cx="3075336" cy="93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8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A8E9-4B75-52CE-10D2-9780661FF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look…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58C3E0-41E3-7619-7B36-6889D606BCB6}"/>
              </a:ext>
            </a:extLst>
          </p:cNvPr>
          <p:cNvSpPr txBox="1">
            <a:spLocks/>
          </p:cNvSpPr>
          <p:nvPr/>
        </p:nvSpPr>
        <p:spPr>
          <a:xfrm>
            <a:off x="818712" y="2222287"/>
            <a:ext cx="10554574" cy="3636511"/>
          </a:xfrm>
          <a:prstGeom prst="rect">
            <a:avLst/>
          </a:prstGeom>
          <a:ln>
            <a:noFill/>
          </a:ln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Person Emily = new Person(); 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Emily.name = “Emily”;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Emily.age</a:t>
            </a:r>
            <a:r>
              <a:rPr lang="en-US" dirty="0"/>
              <a:t> = 29;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Emily.Walk</a:t>
            </a:r>
            <a:r>
              <a:rPr lang="en-US" dirty="0"/>
              <a:t>();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Emily.Talk</a:t>
            </a:r>
            <a:r>
              <a:rPr lang="en-US" dirty="0"/>
              <a:t>();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	</a:t>
            </a:r>
            <a:r>
              <a:rPr lang="en-US" dirty="0" err="1"/>
              <a:t>Emily.Eat</a:t>
            </a:r>
            <a:r>
              <a:rPr lang="en-US" dirty="0"/>
              <a:t>();	</a:t>
            </a:r>
          </a:p>
          <a:p>
            <a:pPr marL="0" indent="0">
              <a:buFont typeface="Wingdings 2" charset="2"/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F50E7A8C-9737-ACB4-976D-031587EC144A}"/>
              </a:ext>
            </a:extLst>
          </p:cNvPr>
          <p:cNvSpPr/>
          <p:nvPr/>
        </p:nvSpPr>
        <p:spPr>
          <a:xfrm>
            <a:off x="1379621" y="2838450"/>
            <a:ext cx="1925053" cy="1181100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4A737-BD4B-CE17-505A-07C1E3FF5554}"/>
              </a:ext>
            </a:extLst>
          </p:cNvPr>
          <p:cNvSpPr txBox="1"/>
          <p:nvPr/>
        </p:nvSpPr>
        <p:spPr>
          <a:xfrm>
            <a:off x="4523874" y="3059667"/>
            <a:ext cx="54382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So how will we ever edit these fields? </a:t>
            </a:r>
          </a:p>
        </p:txBody>
      </p:sp>
      <p:pic>
        <p:nvPicPr>
          <p:cNvPr id="7" name="Picture 2" descr="Surprised Pikachu Transparent PNG | PNG Mart">
            <a:extLst>
              <a:ext uri="{FF2B5EF4-FFF2-40B4-BE49-F238E27FC236}">
                <a16:creationId xmlns:a16="http://schemas.microsoft.com/office/drawing/2014/main" id="{9A79AAE0-DD73-16B1-1F01-B5ECABBFB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483" y="2599608"/>
            <a:ext cx="1770054" cy="132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1A5EED1-1AA1-83AA-C5D1-40FEF5615C6D}"/>
              </a:ext>
            </a:extLst>
          </p:cNvPr>
          <p:cNvSpPr/>
          <p:nvPr/>
        </p:nvSpPr>
        <p:spPr>
          <a:xfrm>
            <a:off x="4347412" y="2838450"/>
            <a:ext cx="4374072" cy="754981"/>
          </a:xfrm>
          <a:prstGeom prst="wedgeRoundRectCallout">
            <a:avLst>
              <a:gd name="adj1" fmla="val 54208"/>
              <a:gd name="adj2" fmla="val 21998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30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Accessor &amp; Mutator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Widely referred to as getters and setters.</a:t>
            </a:r>
          </a:p>
          <a:p>
            <a:r>
              <a:rPr lang="en-US" dirty="0"/>
              <a:t>Set functions are also sometimes called </a:t>
            </a:r>
            <a:r>
              <a:rPr lang="en-US" b="1" dirty="0"/>
              <a:t>mutators</a:t>
            </a:r>
            <a:r>
              <a:rPr lang="en-US" dirty="0"/>
              <a:t> (because they mutate, or change, values)</a:t>
            </a:r>
          </a:p>
          <a:p>
            <a:r>
              <a:rPr lang="en-US" dirty="0"/>
              <a:t>Get functions are also sometimes called </a:t>
            </a:r>
            <a:r>
              <a:rPr lang="en-US" b="1" dirty="0"/>
              <a:t>accessors</a:t>
            </a:r>
            <a:r>
              <a:rPr lang="en-US" dirty="0"/>
              <a:t> (because they access, or </a:t>
            </a:r>
            <a:r>
              <a:rPr lang="en-US" dirty="0" err="1"/>
              <a:t>retreive</a:t>
            </a:r>
            <a:r>
              <a:rPr lang="en-US" dirty="0"/>
              <a:t> values).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They help us solve the problem of private fields being inaccessible in the main function.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177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3CA0-169F-C517-B518-8133CC98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Getters | Setters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0788F-B807-1BFD-5004-E4BD3BC63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class’s private data members can be manipulated only by member functions of that Class. </a:t>
            </a:r>
          </a:p>
          <a:p>
            <a:r>
              <a:rPr lang="en-US" dirty="0"/>
              <a:t>These member function names need not begin with set or get, but this naming convention is common, and highly advised.</a:t>
            </a:r>
          </a:p>
          <a:p>
            <a:endParaRPr lang="en-US" dirty="0"/>
          </a:p>
          <a:p>
            <a:r>
              <a:rPr lang="en-US" sz="1800" b="0" i="0" u="none" strike="noStrike" baseline="0" dirty="0">
                <a:latin typeface="+mj-lt"/>
              </a:rPr>
              <a:t>Providing </a:t>
            </a:r>
            <a:r>
              <a:rPr lang="en-US" sz="1800" b="1" i="0" u="none" strike="noStrike" baseline="0" dirty="0">
                <a:latin typeface="+mj-lt"/>
              </a:rPr>
              <a:t>public</a:t>
            </a:r>
            <a:r>
              <a:rPr lang="en-US" sz="1800" b="0" i="0" u="none" strike="noStrike" baseline="0" dirty="0">
                <a:latin typeface="+mj-lt"/>
              </a:rPr>
              <a:t> </a:t>
            </a:r>
            <a:r>
              <a:rPr lang="en-US" sz="1800" b="0" i="1" u="none" strike="noStrike" baseline="0" dirty="0">
                <a:latin typeface="+mj-lt"/>
              </a:rPr>
              <a:t>set </a:t>
            </a:r>
            <a:r>
              <a:rPr lang="en-US" sz="1800" b="0" i="0" u="none" strike="noStrike" baseline="0" dirty="0">
                <a:latin typeface="+mj-lt"/>
              </a:rPr>
              <a:t>and </a:t>
            </a:r>
            <a:r>
              <a:rPr lang="en-US" sz="1800" b="0" i="1" u="none" strike="noStrike" baseline="0" dirty="0">
                <a:latin typeface="+mj-lt"/>
              </a:rPr>
              <a:t>get </a:t>
            </a:r>
            <a:r>
              <a:rPr lang="en-US" sz="1800" b="0" i="0" u="none" strike="noStrike" baseline="0" dirty="0">
                <a:latin typeface="+mj-lt"/>
              </a:rPr>
              <a:t>functions allows clients of a class to access the hidden data, but only </a:t>
            </a:r>
            <a:r>
              <a:rPr lang="en-US" sz="1800" b="0" i="1" u="none" strike="noStrike" baseline="0" dirty="0">
                <a:latin typeface="+mj-lt"/>
              </a:rPr>
              <a:t>indirectly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742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back to our Person class…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35" y="2085475"/>
            <a:ext cx="11968065" cy="4555958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Person {</a:t>
            </a:r>
          </a:p>
          <a:p>
            <a:pPr marL="0" indent="0">
              <a:buNone/>
            </a:pPr>
            <a:r>
              <a:rPr lang="en-US" dirty="0"/>
              <a:t>	private String Name;</a:t>
            </a:r>
          </a:p>
          <a:p>
            <a:pPr marL="0" indent="0">
              <a:buNone/>
            </a:pPr>
            <a:r>
              <a:rPr lang="en-US" dirty="0"/>
              <a:t>	private int Age;</a:t>
            </a:r>
          </a:p>
          <a:p>
            <a:pPr marL="0" indent="0">
              <a:buNone/>
            </a:pP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	//setters and getters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	public void </a:t>
            </a:r>
            <a:r>
              <a:rPr lang="en-US" b="1" dirty="0" err="1"/>
              <a:t>setName</a:t>
            </a:r>
            <a:r>
              <a:rPr lang="en-US" b="1" dirty="0"/>
              <a:t>(String name) { </a:t>
            </a:r>
          </a:p>
          <a:p>
            <a:pPr marL="0" indent="0">
              <a:buNone/>
            </a:pPr>
            <a:r>
              <a:rPr lang="en-US" b="1" dirty="0"/>
              <a:t>		Name = name; 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String </a:t>
            </a:r>
            <a:r>
              <a:rPr lang="en-US" b="1" dirty="0" err="1"/>
              <a:t>getName</a:t>
            </a:r>
            <a:r>
              <a:rPr lang="en-US" b="1" dirty="0"/>
              <a:t>() { </a:t>
            </a:r>
          </a:p>
          <a:p>
            <a:pPr marL="0" indent="0">
              <a:buNone/>
            </a:pPr>
            <a:r>
              <a:rPr lang="en-US" b="1" dirty="0"/>
              <a:t>		return Name;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void </a:t>
            </a:r>
            <a:r>
              <a:rPr lang="en-US" b="1" dirty="0" err="1"/>
              <a:t>setAge</a:t>
            </a:r>
            <a:r>
              <a:rPr lang="en-US" b="1" dirty="0"/>
              <a:t>(int age) { </a:t>
            </a:r>
          </a:p>
          <a:p>
            <a:pPr marL="0" indent="0">
              <a:buNone/>
            </a:pPr>
            <a:r>
              <a:rPr lang="en-US" b="1" dirty="0"/>
              <a:t>		Age = age; </a:t>
            </a:r>
          </a:p>
          <a:p>
            <a:pPr marL="0" indent="0">
              <a:buNone/>
            </a:pPr>
            <a:r>
              <a:rPr lang="en-US" b="1" dirty="0"/>
              <a:t>	}</a:t>
            </a:r>
          </a:p>
          <a:p>
            <a:pPr marL="0" indent="0">
              <a:buNone/>
            </a:pPr>
            <a:r>
              <a:rPr lang="en-US" b="1" dirty="0"/>
              <a:t>	public int </a:t>
            </a:r>
            <a:r>
              <a:rPr lang="en-US" b="1" dirty="0" err="1"/>
              <a:t>getAge</a:t>
            </a:r>
            <a:r>
              <a:rPr lang="en-US" b="1" dirty="0"/>
              <a:t>() { </a:t>
            </a:r>
          </a:p>
          <a:p>
            <a:pPr marL="0" indent="0">
              <a:buNone/>
            </a:pPr>
            <a:r>
              <a:rPr lang="en-US" b="1" dirty="0"/>
              <a:t>		return Age;</a:t>
            </a:r>
          </a:p>
          <a:p>
            <a:pPr marL="0" indent="0">
              <a:buNone/>
            </a:pPr>
            <a:r>
              <a:rPr lang="en-US" b="1" dirty="0"/>
              <a:t>	}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void Walk() {//walk}</a:t>
            </a:r>
          </a:p>
          <a:p>
            <a:pPr marL="0" indent="0">
              <a:buNone/>
            </a:pPr>
            <a:r>
              <a:rPr lang="en-US" dirty="0"/>
              <a:t>		void Talk() {//talk}</a:t>
            </a:r>
          </a:p>
          <a:p>
            <a:pPr marL="0" indent="0">
              <a:buNone/>
            </a:pPr>
            <a:r>
              <a:rPr lang="en-US" dirty="0"/>
              <a:t>		void Eat() {//eat}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E6189F7-29EC-1A92-03F7-4B186599044A}"/>
              </a:ext>
            </a:extLst>
          </p:cNvPr>
          <p:cNvSpPr/>
          <p:nvPr/>
        </p:nvSpPr>
        <p:spPr>
          <a:xfrm>
            <a:off x="4732419" y="415300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1117288-B9C1-24ED-B3F9-54FC105BF20A}"/>
              </a:ext>
            </a:extLst>
          </p:cNvPr>
          <p:cNvSpPr/>
          <p:nvPr/>
        </p:nvSpPr>
        <p:spPr>
          <a:xfrm rot="10800000">
            <a:off x="6120343" y="211547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A13A91C2-1AC6-F160-C6F7-F4E39AFECB30}"/>
              </a:ext>
            </a:extLst>
          </p:cNvPr>
          <p:cNvSpPr/>
          <p:nvPr/>
        </p:nvSpPr>
        <p:spPr>
          <a:xfrm>
            <a:off x="4163067" y="5333820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7303975-540C-16AD-08C6-30F1DBB552E3}"/>
              </a:ext>
            </a:extLst>
          </p:cNvPr>
          <p:cNvSpPr/>
          <p:nvPr/>
        </p:nvSpPr>
        <p:spPr>
          <a:xfrm>
            <a:off x="9240903" y="3108068"/>
            <a:ext cx="352926" cy="115503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82AD21-A62E-9A1C-6209-5D66629812A7}"/>
              </a:ext>
            </a:extLst>
          </p:cNvPr>
          <p:cNvCxnSpPr>
            <a:stCxn id="4" idx="1"/>
          </p:cNvCxnSpPr>
          <p:nvPr/>
        </p:nvCxnSpPr>
        <p:spPr>
          <a:xfrm flipV="1">
            <a:off x="5085345" y="3238599"/>
            <a:ext cx="0" cy="14919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AC78CB-1C4B-1D49-BC32-6B1A746D2BB0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334278" y="2692986"/>
            <a:ext cx="7860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0C55F4-E17A-4D65-6BB7-039EBCBBC772}"/>
              </a:ext>
            </a:extLst>
          </p:cNvPr>
          <p:cNvCxnSpPr>
            <a:cxnSpLocks/>
          </p:cNvCxnSpPr>
          <p:nvPr/>
        </p:nvCxnSpPr>
        <p:spPr>
          <a:xfrm>
            <a:off x="4515993" y="5911336"/>
            <a:ext cx="536608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395C25F-9089-564E-9571-DE993D13C985}"/>
              </a:ext>
            </a:extLst>
          </p:cNvPr>
          <p:cNvCxnSpPr>
            <a:cxnSpLocks/>
            <a:stCxn id="7" idx="1"/>
            <a:endCxn id="22" idx="0"/>
          </p:cNvCxnSpPr>
          <p:nvPr/>
        </p:nvCxnSpPr>
        <p:spPr>
          <a:xfrm rot="10800000" flipH="1" flipV="1">
            <a:off x="9593828" y="3685583"/>
            <a:ext cx="825659" cy="1989131"/>
          </a:xfrm>
          <a:prstGeom prst="bentConnector4">
            <a:avLst>
              <a:gd name="adj1" fmla="val 100012"/>
              <a:gd name="adj2" fmla="val 64517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41BD84-3CAD-90D1-EEC3-D1A8C9DF5B14}"/>
              </a:ext>
            </a:extLst>
          </p:cNvPr>
          <p:cNvSpPr txBox="1"/>
          <p:nvPr/>
        </p:nvSpPr>
        <p:spPr>
          <a:xfrm>
            <a:off x="4371473" y="2508320"/>
            <a:ext cx="107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Setters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1FC281-5E91-1136-712E-42BE3032D6EC}"/>
              </a:ext>
            </a:extLst>
          </p:cNvPr>
          <p:cNvSpPr txBox="1"/>
          <p:nvPr/>
        </p:nvSpPr>
        <p:spPr>
          <a:xfrm>
            <a:off x="9882078" y="5674715"/>
            <a:ext cx="107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Getters</a:t>
            </a:r>
          </a:p>
        </p:txBody>
      </p:sp>
    </p:spTree>
    <p:extLst>
      <p:ext uri="{BB962C8B-B14F-4D97-AF65-F5344CB8AC3E}">
        <p14:creationId xmlns:p14="http://schemas.microsoft.com/office/powerpoint/2010/main" val="131245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1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7F0D-BF3E-97DD-03CD-EAFD8D35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B0B8F-0BE0-5583-5539-9463E1741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	Person Emily = new Person();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Emily.setName</a:t>
            </a:r>
            <a:r>
              <a:rPr lang="en-US" b="1" dirty="0"/>
              <a:t>(“Emily”);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Emily.setAge</a:t>
            </a:r>
            <a:r>
              <a:rPr lang="en-US" b="1" dirty="0"/>
              <a:t>(29);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Emily.Walk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Emily.Talk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Emily.Eat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Emily.getName</a:t>
            </a:r>
            <a:r>
              <a:rPr lang="en-US" dirty="0"/>
              <a:t>() + " " + </a:t>
            </a:r>
            <a:r>
              <a:rPr lang="en-US" dirty="0" err="1"/>
              <a:t>Emily.getAge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8643D381-7566-A02D-FFC9-73C40815F0A6}"/>
              </a:ext>
            </a:extLst>
          </p:cNvPr>
          <p:cNvSpPr/>
          <p:nvPr/>
        </p:nvSpPr>
        <p:spPr>
          <a:xfrm>
            <a:off x="4562834" y="2861881"/>
            <a:ext cx="376989" cy="91439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7BD3B-6D65-EE4A-CC15-B9416A09B6B4}"/>
              </a:ext>
            </a:extLst>
          </p:cNvPr>
          <p:cNvSpPr txBox="1"/>
          <p:nvPr/>
        </p:nvSpPr>
        <p:spPr>
          <a:xfrm>
            <a:off x="5172433" y="2861881"/>
            <a:ext cx="3737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Using the setters that we made to set the values of name and age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F1654B7-D4D5-559E-FB64-4E45E8362A25}"/>
              </a:ext>
            </a:extLst>
          </p:cNvPr>
          <p:cNvSpPr/>
          <p:nvPr/>
        </p:nvSpPr>
        <p:spPr>
          <a:xfrm>
            <a:off x="7665507" y="4594325"/>
            <a:ext cx="376989" cy="914399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B8328-BF2E-7A2B-99EE-702C61EAE784}"/>
              </a:ext>
            </a:extLst>
          </p:cNvPr>
          <p:cNvSpPr txBox="1"/>
          <p:nvPr/>
        </p:nvSpPr>
        <p:spPr>
          <a:xfrm>
            <a:off x="8194897" y="4589860"/>
            <a:ext cx="3737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Using the getters that we made to get the values of name and age, and print them using </a:t>
            </a:r>
            <a:r>
              <a:rPr lang="en-US" b="1" dirty="0" err="1"/>
              <a:t>cout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263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4208-7707-B6CF-A321-DF64BDB9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CD80E-AF69-05B2-E5D6-E59E7340B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principles of OOP</a:t>
            </a:r>
          </a:p>
          <a:p>
            <a:endParaRPr lang="en-US" dirty="0"/>
          </a:p>
          <a:p>
            <a:r>
              <a:rPr lang="en-US" b="1" dirty="0"/>
              <a:t>Encapsulation</a:t>
            </a:r>
            <a:r>
              <a:rPr lang="en-US" dirty="0"/>
              <a:t> is a process of wrapping of data and methods in a single unit.</a:t>
            </a:r>
          </a:p>
          <a:p>
            <a:r>
              <a:rPr lang="en-US" dirty="0"/>
              <a:t>The main advantage of using of encapsulation is to secure the data from other methods, when we make a data private then these data only use within the class, but these data not accessible outside the class.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10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D151-B36C-ED26-41B6-1626C869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AA4E-8451-B581-5F58-42DFFA0B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encapsulation is used along with the classes and the access specifier concept.</a:t>
            </a:r>
          </a:p>
          <a:p>
            <a:r>
              <a:rPr lang="en-US" dirty="0"/>
              <a:t>Encapsulation is the process of combining data and function into a single unit called class.</a:t>
            </a:r>
          </a:p>
          <a:p>
            <a:endParaRPr lang="en-US" dirty="0"/>
          </a:p>
          <a:p>
            <a:r>
              <a:rPr lang="en-US" dirty="0"/>
              <a:t>You can say it as a protective wrapper that stops random access of code defined outside that wrapper.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162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8684-1443-F85C-47F6-20CF43672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1B73393-DA46-27EE-F325-E7705DA11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342" y="1908085"/>
            <a:ext cx="6804006" cy="4949915"/>
          </a:xfrm>
          <a:prstGeom prst="rect">
            <a:avLst/>
          </a:prstGeom>
          <a:noFill/>
          <a:effectLst>
            <a:outerShdw blurRad="50800" dir="1440000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33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class as a capsule the holds together the medicine</a:t>
            </a:r>
          </a:p>
          <a:p>
            <a:r>
              <a:rPr lang="en-US" dirty="0"/>
              <a:t>In this case, methods and variables are the medication</a:t>
            </a:r>
          </a:p>
          <a:p>
            <a:r>
              <a:rPr lang="en-US" dirty="0"/>
              <a:t>And the class is the capsule itself!</a:t>
            </a:r>
          </a:p>
        </p:txBody>
      </p:sp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343191A9-9F3F-0FA1-00C3-C6C2367701F8}"/>
              </a:ext>
            </a:extLst>
          </p:cNvPr>
          <p:cNvSpPr/>
          <p:nvPr/>
        </p:nvSpPr>
        <p:spPr>
          <a:xfrm rot="17225780">
            <a:off x="9224211" y="2635499"/>
            <a:ext cx="1331495" cy="1299410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variables</a:t>
            </a:r>
          </a:p>
        </p:txBody>
      </p:sp>
      <p:sp>
        <p:nvSpPr>
          <p:cNvPr id="6" name="Flowchart: Delay 5">
            <a:extLst>
              <a:ext uri="{FF2B5EF4-FFF2-40B4-BE49-F238E27FC236}">
                <a16:creationId xmlns:a16="http://schemas.microsoft.com/office/drawing/2014/main" id="{7BE357A3-58BD-D95E-DF44-65844F7A4D55}"/>
              </a:ext>
            </a:extLst>
          </p:cNvPr>
          <p:cNvSpPr/>
          <p:nvPr/>
        </p:nvSpPr>
        <p:spPr>
          <a:xfrm rot="6425780">
            <a:off x="8823158" y="3914275"/>
            <a:ext cx="1331495" cy="1299410"/>
          </a:xfrm>
          <a:prstGeom prst="flowChartDela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3138031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747C-D761-658A-E195-993A0C3C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want to Encapsulate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CAE16-5289-F5BA-C511-7C79F9219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Simplicity | Clarity</a:t>
            </a:r>
          </a:p>
          <a:p>
            <a:r>
              <a:rPr lang="en-US" dirty="0"/>
              <a:t>Better understanding of the code</a:t>
            </a:r>
          </a:p>
          <a:p>
            <a:r>
              <a:rPr lang="en-US" dirty="0"/>
              <a:t>Lowers code complexity</a:t>
            </a:r>
          </a:p>
          <a:p>
            <a:r>
              <a:rPr lang="en-US" dirty="0"/>
              <a:t>Manage/Limit data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15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EE1F-6C75-D6B2-41A5-B3F9AFEF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5F5E-8FDD-7E27-3CCB-FABE371EE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selectively show only the relevant details of an object</a:t>
            </a:r>
          </a:p>
          <a:p>
            <a:r>
              <a:rPr lang="en-US" dirty="0"/>
              <a:t>Principle of abstraction:</a:t>
            </a:r>
          </a:p>
          <a:p>
            <a:pPr marL="0" indent="0" algn="ctr">
              <a:buNone/>
            </a:pPr>
            <a:r>
              <a:rPr lang="en-US" dirty="0"/>
              <a:t>	“Capture only those details about an object that are </a:t>
            </a:r>
          </a:p>
          <a:p>
            <a:pPr marL="0" indent="0" algn="ctr">
              <a:buNone/>
            </a:pPr>
            <a:r>
              <a:rPr lang="en-US" b="1" dirty="0"/>
              <a:t>relevant</a:t>
            </a:r>
            <a:r>
              <a:rPr lang="en-US" dirty="0"/>
              <a:t> to current perspective”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482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8B7-E0D3-F5CC-4167-CE09DF06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0531-11CC-0C8D-DE9F-F3B10A933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096031"/>
            <a:ext cx="11889139" cy="38417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Perspective: A point of view</a:t>
            </a:r>
          </a:p>
          <a:p>
            <a:r>
              <a:rPr lang="en-US" dirty="0"/>
              <a:t>The person only knows there is a book window for </a:t>
            </a:r>
            <a:br>
              <a:rPr lang="en-US" dirty="0"/>
            </a:br>
            <a:r>
              <a:rPr lang="en-US" dirty="0"/>
              <a:t>borrowing and returning books, he doesn't care or </a:t>
            </a:r>
            <a:br>
              <a:rPr lang="en-US" dirty="0"/>
            </a:br>
            <a:r>
              <a:rPr lang="en-US" dirty="0"/>
              <a:t>doesn't need to know about how the book is found </a:t>
            </a:r>
            <a:br>
              <a:rPr lang="en-US" dirty="0"/>
            </a:br>
            <a:r>
              <a:rPr lang="en-US" dirty="0"/>
              <a:t>and what happens before and after he requests or</a:t>
            </a:r>
            <a:br>
              <a:rPr lang="en-US" dirty="0"/>
            </a:br>
            <a:r>
              <a:rPr lang="en-US" dirty="0"/>
              <a:t>return a book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Let’s identify the things that are relevant to the</a:t>
            </a:r>
          </a:p>
          <a:p>
            <a:pPr lvl="1"/>
            <a:r>
              <a:rPr lang="en-US" dirty="0"/>
              <a:t>Borrower - ??? </a:t>
            </a:r>
          </a:p>
          <a:p>
            <a:pPr lvl="1"/>
            <a:r>
              <a:rPr lang="en-US" dirty="0"/>
              <a:t>Librarian - ???</a:t>
            </a:r>
          </a:p>
          <a:p>
            <a:endParaRPr lang="en-US" dirty="0"/>
          </a:p>
        </p:txBody>
      </p:sp>
      <p:pic>
        <p:nvPicPr>
          <p:cNvPr id="1026" name="Picture 2" descr="Difference between Abstraction and Encapsulation in Java - OOP">
            <a:extLst>
              <a:ext uri="{FF2B5EF4-FFF2-40B4-BE49-F238E27FC236}">
                <a16:creationId xmlns:a16="http://schemas.microsoft.com/office/drawing/2014/main" id="{470CFAFB-E934-BD91-23B3-C82816D3E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" t="1250" r="1600" b="47731"/>
          <a:stretch/>
        </p:blipFill>
        <p:spPr bwMode="auto">
          <a:xfrm>
            <a:off x="7058139" y="1938968"/>
            <a:ext cx="5133861" cy="350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860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017F5-E5A6-3E5C-446C-93A369A9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6556D-458B-4510-77D8-260A89D08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Simplifies the model by hiding irrelevant details</a:t>
            </a:r>
          </a:p>
          <a:p>
            <a:endParaRPr lang="en-US"/>
          </a:p>
          <a:p>
            <a:r>
              <a:rPr lang="en-US"/>
              <a:t>Abstraction provides the freedom to defer implementation decisions by avoiding commitment to details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57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5C47-EFC6-3563-9359-797BF06E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v/s Encapsulation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5B1D44-15FF-8C4B-4813-D59917AA5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67" y="1879447"/>
            <a:ext cx="6176865" cy="49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82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BFE0-B19B-7ADD-C1E1-48812B8C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349C-498B-9756-C3D5-8FFB68E9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Elevator</a:t>
            </a:r>
          </a:p>
          <a:p>
            <a:r>
              <a:rPr lang="en-US" dirty="0"/>
              <a:t>private: </a:t>
            </a:r>
            <a:r>
              <a:rPr lang="en-US" dirty="0" err="1"/>
              <a:t>currentFloor</a:t>
            </a:r>
            <a:r>
              <a:rPr lang="en-US" dirty="0"/>
              <a:t>, </a:t>
            </a:r>
            <a:r>
              <a:rPr lang="en-US" dirty="0" err="1"/>
              <a:t>minFloor</a:t>
            </a:r>
            <a:r>
              <a:rPr lang="en-US" dirty="0"/>
              <a:t>, </a:t>
            </a:r>
            <a:r>
              <a:rPr lang="en-US" dirty="0" err="1"/>
              <a:t>maxFloor</a:t>
            </a:r>
            <a:endParaRPr lang="en-US" dirty="0"/>
          </a:p>
          <a:p>
            <a:r>
              <a:rPr lang="en-US" dirty="0"/>
              <a:t>setter ensures floor is within bounds</a:t>
            </a:r>
          </a:p>
          <a:p>
            <a:r>
              <a:rPr lang="en-US" dirty="0"/>
              <a:t>getter to display which floor it is on</a:t>
            </a:r>
          </a:p>
          <a:p>
            <a:r>
              <a:rPr lang="en-US" dirty="0"/>
              <a:t>function </a:t>
            </a:r>
            <a:r>
              <a:rPr lang="en-US" dirty="0" err="1"/>
              <a:t>moveUp</a:t>
            </a:r>
            <a:r>
              <a:rPr lang="en-US" dirty="0"/>
              <a:t>(), </a:t>
            </a:r>
            <a:r>
              <a:rPr lang="en-US" dirty="0" err="1"/>
              <a:t>moveDown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578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FD9A-5291-C24A-7A1C-19EDCFD5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5EEE-A2D5-E166-0587-18738D78D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User</a:t>
            </a:r>
          </a:p>
          <a:p>
            <a:r>
              <a:rPr lang="en-US" dirty="0"/>
              <a:t>private: username, password</a:t>
            </a:r>
          </a:p>
          <a:p>
            <a:r>
              <a:rPr lang="en-US" dirty="0"/>
              <a:t>setter for password must:</a:t>
            </a:r>
          </a:p>
          <a:p>
            <a:pPr lvl="1"/>
            <a:r>
              <a:rPr lang="en-US" dirty="0"/>
              <a:t>length ≥ 8</a:t>
            </a:r>
          </a:p>
          <a:p>
            <a:pPr lvl="1"/>
            <a:r>
              <a:rPr lang="en-US" dirty="0"/>
              <a:t>contain at least one digit</a:t>
            </a:r>
          </a:p>
          <a:p>
            <a:r>
              <a:rPr lang="en-US" dirty="0"/>
              <a:t>getter for password should NOT return actual password, only "******"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34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ACA1-DE3D-6C6B-EB57-6A7628A3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9920-CC59-A601-D068-96A6EEC7E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Quiz</a:t>
            </a:r>
          </a:p>
          <a:p>
            <a:r>
              <a:rPr lang="en-US" dirty="0"/>
              <a:t>private: questions[10], </a:t>
            </a:r>
            <a:r>
              <a:rPr lang="en-US" dirty="0" err="1"/>
              <a:t>correctAnswers</a:t>
            </a:r>
            <a:r>
              <a:rPr lang="en-US" dirty="0"/>
              <a:t>[10]</a:t>
            </a:r>
          </a:p>
          <a:p>
            <a:r>
              <a:rPr lang="en-US" dirty="0"/>
              <a:t>setter to add questions</a:t>
            </a:r>
          </a:p>
          <a:p>
            <a:r>
              <a:rPr lang="en-US" dirty="0"/>
              <a:t>function </a:t>
            </a:r>
            <a:r>
              <a:rPr lang="en-US" dirty="0" err="1"/>
              <a:t>checkAnswer</a:t>
            </a:r>
            <a:r>
              <a:rPr lang="en-US" dirty="0"/>
              <a:t>(</a:t>
            </a:r>
            <a:r>
              <a:rPr lang="en-US" dirty="0" err="1"/>
              <a:t>qNo</a:t>
            </a:r>
            <a:r>
              <a:rPr lang="en-US" dirty="0"/>
              <a:t>, </a:t>
            </a:r>
            <a:r>
              <a:rPr lang="en-US" dirty="0" err="1"/>
              <a:t>userAnswer</a:t>
            </a:r>
            <a:r>
              <a:rPr lang="en-US" dirty="0"/>
              <a:t>)</a:t>
            </a:r>
          </a:p>
          <a:p>
            <a:r>
              <a:rPr lang="en-US" dirty="0"/>
              <a:t>function score()</a:t>
            </a:r>
          </a:p>
          <a:p>
            <a:r>
              <a:rPr lang="en-US" dirty="0"/>
              <a:t>Main asks questions and user input answers</a:t>
            </a:r>
          </a:p>
          <a:p>
            <a:r>
              <a:rPr lang="en-US" dirty="0"/>
              <a:t>Answers passed to </a:t>
            </a:r>
            <a:r>
              <a:rPr lang="en-US" dirty="0" err="1"/>
              <a:t>checkAnswer</a:t>
            </a:r>
            <a:r>
              <a:rPr lang="en-US" dirty="0"/>
              <a:t> as argument.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49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B1A518-14F6-11E9-106F-DBDC6A24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88D74-2E0F-86C2-4154-F924490BD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2578" y="5206556"/>
            <a:ext cx="659875" cy="433955"/>
          </a:xfrm>
        </p:spPr>
        <p:txBody>
          <a:bodyPr/>
          <a:lstStyle/>
          <a:p>
            <a:r>
              <a:rPr lang="en-US" dirty="0"/>
              <a:t>O-o</a:t>
            </a:r>
          </a:p>
        </p:txBody>
      </p:sp>
    </p:spTree>
    <p:extLst>
      <p:ext uri="{BB962C8B-B14F-4D97-AF65-F5344CB8AC3E}">
        <p14:creationId xmlns:p14="http://schemas.microsoft.com/office/powerpoint/2010/main" val="32707279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212121"/>
      </a:dk1>
      <a:lt1>
        <a:srgbClr val="212121"/>
      </a:lt1>
      <a:dk2>
        <a:srgbClr val="F2F2F2"/>
      </a:dk2>
      <a:lt2>
        <a:srgbClr val="636363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1272</TotalTime>
  <Words>1751</Words>
  <Application>Microsoft Office PowerPoint</Application>
  <PresentationFormat>Widescreen</PresentationFormat>
  <Paragraphs>292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Century Gothic</vt:lpstr>
      <vt:lpstr>Consolas</vt:lpstr>
      <vt:lpstr>Courier New</vt:lpstr>
      <vt:lpstr>Wingdings 2</vt:lpstr>
      <vt:lpstr>Quotable</vt:lpstr>
      <vt:lpstr>Introduction to Object-Oriented Programming</vt:lpstr>
      <vt:lpstr>Small Intro to Java Execution Pipeline</vt:lpstr>
      <vt:lpstr>Java Platform</vt:lpstr>
      <vt:lpstr>Bytecode</vt:lpstr>
      <vt:lpstr>JVM (Java Virtual Machine)</vt:lpstr>
      <vt:lpstr>JVM (Java Virtual Machine)</vt:lpstr>
      <vt:lpstr>JIT Compiler</vt:lpstr>
      <vt:lpstr>Some Useful Commands</vt:lpstr>
      <vt:lpstr>Class Diagrams  &amp;  Basic Syntax for Classes</vt:lpstr>
      <vt:lpstr>Class Diagrams</vt:lpstr>
      <vt:lpstr>Examples of Classes</vt:lpstr>
      <vt:lpstr>Examples of Objects</vt:lpstr>
      <vt:lpstr>Let’s map the class diagram to code now!</vt:lpstr>
      <vt:lpstr>Let’s map the class diagram to code now!</vt:lpstr>
      <vt:lpstr>Creating an object of a class:</vt:lpstr>
      <vt:lpstr>Access Modifiers | Access Specifiers</vt:lpstr>
      <vt:lpstr>Types of Access Specifiers:</vt:lpstr>
      <vt:lpstr>The “public” Access Modifier</vt:lpstr>
      <vt:lpstr>The “private” Access Modifier</vt:lpstr>
      <vt:lpstr>The “protected” Access Modifier</vt:lpstr>
      <vt:lpstr>Let’s have a look…</vt:lpstr>
      <vt:lpstr>Accessor &amp; Mutator Functions</vt:lpstr>
      <vt:lpstr>Getters | Setters</vt:lpstr>
      <vt:lpstr>Going back to our Person class…</vt:lpstr>
      <vt:lpstr>Updating Main</vt:lpstr>
      <vt:lpstr>Encapsulation</vt:lpstr>
      <vt:lpstr>Encapsulation</vt:lpstr>
      <vt:lpstr>PowerPoint Presentation</vt:lpstr>
      <vt:lpstr>Encapsulation</vt:lpstr>
      <vt:lpstr>Why do we want to Encapsulate Data?</vt:lpstr>
      <vt:lpstr>Abstraction</vt:lpstr>
      <vt:lpstr>Abstraction</vt:lpstr>
      <vt:lpstr>Abstraction – Advantages</vt:lpstr>
      <vt:lpstr>Abstraction v/s Encapsulation</vt:lpstr>
      <vt:lpstr>Class Task</vt:lpstr>
      <vt:lpstr>Class Task</vt:lpstr>
      <vt:lpstr>Class Task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127</cp:revision>
  <dcterms:created xsi:type="dcterms:W3CDTF">2026-01-19T10:14:09Z</dcterms:created>
  <dcterms:modified xsi:type="dcterms:W3CDTF">2026-01-27T06:34:12Z</dcterms:modified>
</cp:coreProperties>
</file>