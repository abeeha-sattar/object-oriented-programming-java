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2" r:id="rId1"/>
  </p:sldMasterIdLst>
  <p:notesMasterIdLst>
    <p:notesMasterId r:id="rId16"/>
  </p:notesMasterIdLst>
  <p:sldIdLst>
    <p:sldId id="256" r:id="rId2"/>
    <p:sldId id="257" r:id="rId3"/>
    <p:sldId id="258" r:id="rId4"/>
    <p:sldId id="295" r:id="rId5"/>
    <p:sldId id="259" r:id="rId6"/>
    <p:sldId id="260" r:id="rId7"/>
    <p:sldId id="262" r:id="rId8"/>
    <p:sldId id="272" r:id="rId9"/>
    <p:sldId id="271" r:id="rId10"/>
    <p:sldId id="270" r:id="rId11"/>
    <p:sldId id="269" r:id="rId12"/>
    <p:sldId id="268" r:id="rId13"/>
    <p:sldId id="267" r:id="rId14"/>
    <p:sldId id="29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7990" autoAdjust="0"/>
  </p:normalViewPr>
  <p:slideViewPr>
    <p:cSldViewPr snapToGrid="0">
      <p:cViewPr varScale="1">
        <p:scale>
          <a:sx n="85" d="100"/>
          <a:sy n="85" d="100"/>
        </p:scale>
        <p:origin x="15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96113-225B-4AED-8D2D-E2FD60DD6B1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635BC-CC39-4540-B83C-CDDDF8ABA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06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7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9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9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6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6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2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7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8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09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7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5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4C13F30E-5208-46AD-B1E4-ED6FE11707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ADFCAD9-386B-470D-949B-73185FF8F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94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mailto:abeeha.sattar@nu.edu.p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2368-BC60-F755-53A4-36243B43D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36984-4D23-4BF7-BC68-17CDC7E91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765" y="5280847"/>
            <a:ext cx="10399235" cy="43497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WEEK 01																		Abeeha Sattar</a:t>
            </a:r>
          </a:p>
        </p:txBody>
      </p:sp>
    </p:spTree>
    <p:extLst>
      <p:ext uri="{BB962C8B-B14F-4D97-AF65-F5344CB8AC3E}">
        <p14:creationId xmlns:p14="http://schemas.microsoft.com/office/powerpoint/2010/main" val="4055406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751E-313C-4EF9-03F5-249CF817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Introduce Ourselves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51AF9-817B-B837-8CC6-8A06527DB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b="1" dirty="0">
                <a:solidFill>
                  <a:schemeClr val="bg2"/>
                </a:solidFill>
              </a:rPr>
              <a:t>Name</a:t>
            </a:r>
            <a:r>
              <a:rPr lang="en-US" dirty="0">
                <a:solidFill>
                  <a:schemeClr val="bg2"/>
                </a:solidFill>
              </a:rPr>
              <a:t>: Abeeha Sattar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Qualifications</a:t>
            </a:r>
            <a:r>
              <a:rPr lang="en-US" dirty="0">
                <a:solidFill>
                  <a:schemeClr val="bg2"/>
                </a:solidFill>
              </a:rPr>
              <a:t>: MS(CS) from IBA (2020), BS(CS) from FAST-NUCES (2016)</a:t>
            </a:r>
          </a:p>
          <a:p>
            <a:r>
              <a:rPr lang="en-US" b="1" dirty="0">
                <a:solidFill>
                  <a:schemeClr val="bg2"/>
                </a:solidFill>
              </a:rPr>
              <a:t>Experience</a:t>
            </a:r>
            <a:r>
              <a:rPr lang="en-US" dirty="0">
                <a:solidFill>
                  <a:schemeClr val="bg2"/>
                </a:solidFill>
              </a:rPr>
              <a:t>: Worked in Systems Ltd. for about 1.5 years. </a:t>
            </a:r>
          </a:p>
          <a:p>
            <a:r>
              <a:rPr lang="en-US" b="1" dirty="0">
                <a:solidFill>
                  <a:schemeClr val="bg2"/>
                </a:solidFill>
              </a:rPr>
              <a:t>Courses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b="1" dirty="0">
                <a:solidFill>
                  <a:schemeClr val="bg2"/>
                </a:solidFill>
              </a:rPr>
              <a:t>Taught</a:t>
            </a:r>
            <a:r>
              <a:rPr lang="en-US" dirty="0">
                <a:solidFill>
                  <a:schemeClr val="bg2"/>
                </a:solidFill>
              </a:rPr>
              <a:t>: IPT, SDA, SCD, PF, AI, OOP-Theory &amp; Lab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026" name="Picture 2" descr="Hello Wave GIF - Hello Wave Cute - Discover &amp; Share GIFs | Video vui nhộn  hài hước,">
            <a:extLst>
              <a:ext uri="{FF2B5EF4-FFF2-40B4-BE49-F238E27FC236}">
                <a16:creationId xmlns:a16="http://schemas.microsoft.com/office/drawing/2014/main" id="{FE31DEA3-AA40-0653-01FD-0987140E1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726" y="3765726"/>
            <a:ext cx="3092274" cy="30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07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0E97-B6A3-ADDB-DC90-CF64D229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Consultation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37808-6FCE-D560-1CBE-8EC4B1BE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Will share with you once the timetable is a bit more stable.</a:t>
            </a:r>
          </a:p>
          <a:p>
            <a:r>
              <a:rPr lang="en-US" dirty="0">
                <a:solidFill>
                  <a:schemeClr val="bg2"/>
                </a:solidFill>
              </a:rPr>
              <a:t>Faculty Offices opposite to CS Secretariat, Room # 8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b="1" u="sng" dirty="0">
                <a:solidFill>
                  <a:schemeClr val="bg2"/>
                </a:solidFill>
              </a:rPr>
              <a:t>Do email me before visiting!</a:t>
            </a:r>
          </a:p>
          <a:p>
            <a:r>
              <a:rPr lang="en-US" dirty="0">
                <a:solidFill>
                  <a:schemeClr val="bg2"/>
                </a:solidFill>
              </a:rPr>
              <a:t>Email: </a:t>
            </a:r>
            <a:r>
              <a:rPr lang="en-US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abeeha.sattar@nu.edu.pk</a:t>
            </a: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Cats Looking Surprised: Over 1,607 Royalty-Free Licensable Stock  Illustrations &amp; Drawings | Shutterstock">
            <a:extLst>
              <a:ext uri="{FF2B5EF4-FFF2-40B4-BE49-F238E27FC236}">
                <a16:creationId xmlns:a16="http://schemas.microsoft.com/office/drawing/2014/main" id="{7DCD02C6-D70F-9EE8-213C-4C96A6593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73344" y="2939344"/>
            <a:ext cx="3918656" cy="391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03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0B81-5A2B-FBB6-1AE5-BE04BB12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BSE-2B</a:t>
            </a:r>
          </a:p>
        </p:txBody>
      </p:sp>
      <p:pic>
        <p:nvPicPr>
          <p:cNvPr id="3074" name="Picture 2" descr="100,100+ Black Cat Stock Illustrations, Royalty-Free Vector Graphics &amp; Clip  Art - iStock | Black cat isolated, Black cat halloween, Black cat white  background">
            <a:extLst>
              <a:ext uri="{FF2B5EF4-FFF2-40B4-BE49-F238E27FC236}">
                <a16:creationId xmlns:a16="http://schemas.microsoft.com/office/drawing/2014/main" id="{509680E7-D729-7747-21F3-3E187053A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172" y="3872635"/>
            <a:ext cx="3546828" cy="295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41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3F69-732E-ED62-3365-62A30B7D3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 Requisites for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D11A3-7487-C0F8-C789-0F75E23DF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chemeClr val="bg2"/>
                </a:solidFill>
              </a:rPr>
              <a:t>The Programming Fundamentals:</a:t>
            </a:r>
          </a:p>
          <a:p>
            <a:pPr lvl="1"/>
            <a:endParaRPr lang="en-US" sz="1800" dirty="0">
              <a:solidFill>
                <a:schemeClr val="bg2"/>
              </a:solidFill>
            </a:endParaRPr>
          </a:p>
          <a:p>
            <a:pPr lvl="2"/>
            <a:r>
              <a:rPr lang="en-US" sz="1600" dirty="0">
                <a:solidFill>
                  <a:schemeClr val="bg2"/>
                </a:solidFill>
              </a:rPr>
              <a:t>How to think a program.</a:t>
            </a:r>
          </a:p>
          <a:p>
            <a:pPr lvl="2"/>
            <a:r>
              <a:rPr lang="en-US" sz="1600" dirty="0">
                <a:solidFill>
                  <a:schemeClr val="bg2"/>
                </a:solidFill>
              </a:rPr>
              <a:t>How to write a program.</a:t>
            </a:r>
          </a:p>
          <a:p>
            <a:pPr lvl="2"/>
            <a:r>
              <a:rPr lang="en-US" sz="1600" dirty="0">
                <a:solidFill>
                  <a:schemeClr val="bg2"/>
                </a:solidFill>
              </a:rPr>
              <a:t>Basic Programming structure.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1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&amp; Quizzes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There will be 2 assignments and 3 (best n-1) quizzes.</a:t>
            </a:r>
          </a:p>
          <a:p>
            <a:r>
              <a:rPr lang="en-US" dirty="0">
                <a:solidFill>
                  <a:schemeClr val="bg2"/>
                </a:solidFill>
              </a:rPr>
              <a:t>Quiz Schedule (tentative):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Q1 – Before Mid-1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Q2 – Before Mid-2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Q3 – Before Finals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Q4 – Before Finals</a:t>
            </a:r>
          </a:p>
        </p:txBody>
      </p:sp>
    </p:spTree>
    <p:extLst>
      <p:ext uri="{BB962C8B-B14F-4D97-AF65-F5344CB8AC3E}">
        <p14:creationId xmlns:p14="http://schemas.microsoft.com/office/powerpoint/2010/main" val="78121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 Programming Assignments 		8 %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 Quizzes				 			12 %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 Midterms (2) 					30 %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 Final 							50 %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52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Assignments Policies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No late submissions--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 couple of minutes late is fine, but more than hour is not!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Will be graded from ½ of the total </a:t>
            </a:r>
            <a:r>
              <a:rPr lang="en-US" dirty="0" err="1">
                <a:solidFill>
                  <a:schemeClr val="bg2"/>
                </a:solidFill>
              </a:rPr>
              <a:t>wtg</a:t>
            </a:r>
            <a:r>
              <a:rPr lang="en-US" dirty="0">
                <a:solidFill>
                  <a:schemeClr val="bg2"/>
                </a:solidFill>
              </a:rPr>
              <a:t> instead.</a:t>
            </a:r>
          </a:p>
          <a:p>
            <a:r>
              <a:rPr lang="en-US" dirty="0">
                <a:solidFill>
                  <a:schemeClr val="bg2"/>
                </a:solidFill>
              </a:rPr>
              <a:t>No Plagiarism!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0 for the plagiarized question.</a:t>
            </a:r>
          </a:p>
        </p:txBody>
      </p:sp>
    </p:spTree>
    <p:extLst>
      <p:ext uri="{BB962C8B-B14F-4D97-AF65-F5344CB8AC3E}">
        <p14:creationId xmlns:p14="http://schemas.microsoft.com/office/powerpoint/2010/main" val="3912950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Classroom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Attendance: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Should have 80% attendance.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Do not come to me for attendance related issues at the end of the semester. If I have marked it incorrectly, make sure to get it fixed on a weekly/bi-weekly basis.</a:t>
            </a:r>
          </a:p>
          <a:p>
            <a:r>
              <a:rPr lang="en-US" dirty="0">
                <a:solidFill>
                  <a:schemeClr val="bg2"/>
                </a:solidFill>
              </a:rPr>
              <a:t>Marks/Weightage: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Do not come to me for marks related issues at the end of the semester. All emails regarding “please give me X weightage” will be ignored.</a:t>
            </a:r>
          </a:p>
          <a:p>
            <a:r>
              <a:rPr lang="en-US" dirty="0">
                <a:solidFill>
                  <a:schemeClr val="bg2"/>
                </a:solidFill>
              </a:rPr>
              <a:t>Class Behavior: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Don’t be rude to me, I won’t be rude to you!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If you don’t get something, ask questions!! For the love of god!!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17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Book(s)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Java - How to program By Deitel &amp; Deitel.</a:t>
            </a:r>
          </a:p>
        </p:txBody>
      </p:sp>
    </p:spTree>
    <p:extLst>
      <p:ext uri="{BB962C8B-B14F-4D97-AF65-F5344CB8AC3E}">
        <p14:creationId xmlns:p14="http://schemas.microsoft.com/office/powerpoint/2010/main" val="2834637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Anything works, based on your preference—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Eclipse</a:t>
            </a:r>
          </a:p>
          <a:p>
            <a:r>
              <a:rPr lang="en-US" dirty="0">
                <a:solidFill>
                  <a:schemeClr val="bg2"/>
                </a:solidFill>
              </a:rPr>
              <a:t>VS Code</a:t>
            </a:r>
          </a:p>
          <a:p>
            <a:r>
              <a:rPr lang="en-US" dirty="0">
                <a:solidFill>
                  <a:schemeClr val="bg2"/>
                </a:solidFill>
              </a:rPr>
              <a:t>IntelliJ IDEA</a:t>
            </a:r>
          </a:p>
          <a:p>
            <a:r>
              <a:rPr lang="en-US" dirty="0">
                <a:solidFill>
                  <a:schemeClr val="bg2"/>
                </a:solidFill>
              </a:rPr>
              <a:t>NetBeans</a:t>
            </a:r>
          </a:p>
        </p:txBody>
      </p:sp>
    </p:spTree>
    <p:extLst>
      <p:ext uri="{BB962C8B-B14F-4D97-AF65-F5344CB8AC3E}">
        <p14:creationId xmlns:p14="http://schemas.microsoft.com/office/powerpoint/2010/main" val="762918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What is Object-Oriented Programming?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Any wild guesses?</a:t>
            </a:r>
          </a:p>
        </p:txBody>
      </p:sp>
    </p:spTree>
    <p:extLst>
      <p:ext uri="{BB962C8B-B14F-4D97-AF65-F5344CB8AC3E}">
        <p14:creationId xmlns:p14="http://schemas.microsoft.com/office/powerpoint/2010/main" val="543624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What we’ll be doing in this course:</a:t>
            </a:r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How to think in a OOP way. (What is the OOP way?)</a:t>
            </a:r>
          </a:p>
          <a:p>
            <a:r>
              <a:rPr lang="en-US" dirty="0">
                <a:solidFill>
                  <a:schemeClr val="bg2"/>
                </a:solidFill>
              </a:rPr>
              <a:t>How to map real world into a program </a:t>
            </a:r>
          </a:p>
          <a:p>
            <a:r>
              <a:rPr lang="en-US" dirty="0">
                <a:solidFill>
                  <a:schemeClr val="bg2"/>
                </a:solidFill>
              </a:rPr>
              <a:t>Or, how to program a real world scenario.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15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5A48E6-BC00-0F18-CD49-9C102E55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F8533A-88EC-9260-ED8E-7F39D0BC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4776313">
            <a:off x="9253820" y="5109750"/>
            <a:ext cx="555645" cy="521137"/>
          </a:xfrm>
        </p:spPr>
        <p:txBody>
          <a:bodyPr/>
          <a:lstStyle/>
          <a:p>
            <a:r>
              <a:rPr lang="en-US" sz="2400" dirty="0">
                <a:solidFill>
                  <a:schemeClr val="bg2"/>
                </a:solidFill>
              </a:rPr>
              <a:t>: )</a:t>
            </a:r>
          </a:p>
        </p:txBody>
      </p:sp>
    </p:spTree>
    <p:extLst>
      <p:ext uri="{BB962C8B-B14F-4D97-AF65-F5344CB8AC3E}">
        <p14:creationId xmlns:p14="http://schemas.microsoft.com/office/powerpoint/2010/main" val="4220851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002060"/>
      </a:hlink>
      <a:folHlink>
        <a:srgbClr val="0070C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319</TotalTime>
  <Words>470</Words>
  <Application>Microsoft Office PowerPoint</Application>
  <PresentationFormat>Widescreen</PresentationFormat>
  <Paragraphs>71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Wingdings</vt:lpstr>
      <vt:lpstr>Wingdings 2</vt:lpstr>
      <vt:lpstr>Quotable</vt:lpstr>
      <vt:lpstr>Object-Oriented Programming</vt:lpstr>
      <vt:lpstr>Let’s Introduce Ourselves</vt:lpstr>
      <vt:lpstr>Consultation Hours</vt:lpstr>
      <vt:lpstr>About BSE-2B</vt:lpstr>
      <vt:lpstr>Pre- Requisites for the Course</vt:lpstr>
      <vt:lpstr>Assignments &amp; Quizzes</vt:lpstr>
      <vt:lpstr>Grading Scheme</vt:lpstr>
      <vt:lpstr>Assignments Policies</vt:lpstr>
      <vt:lpstr>Classroom Policies</vt:lpstr>
      <vt:lpstr>Reference Book(s)</vt:lpstr>
      <vt:lpstr>Tools Required</vt:lpstr>
      <vt:lpstr>What is Object-Oriented Programming?</vt:lpstr>
      <vt:lpstr>Contd…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abeeha.sattar13@outlook.com</dc:creator>
  <cp:lastModifiedBy>Abeeha Sattar</cp:lastModifiedBy>
  <cp:revision>152</cp:revision>
  <dcterms:created xsi:type="dcterms:W3CDTF">2023-01-26T02:43:51Z</dcterms:created>
  <dcterms:modified xsi:type="dcterms:W3CDTF">2026-01-19T05:23:02Z</dcterms:modified>
</cp:coreProperties>
</file>