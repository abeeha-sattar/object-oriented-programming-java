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85" r:id="rId13"/>
    <p:sldId id="287" r:id="rId14"/>
    <p:sldId id="286" r:id="rId15"/>
    <p:sldId id="270" r:id="rId16"/>
    <p:sldId id="288" r:id="rId17"/>
    <p:sldId id="289" r:id="rId18"/>
    <p:sldId id="268" r:id="rId19"/>
    <p:sldId id="267" r:id="rId20"/>
    <p:sldId id="26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C403E-31A1-4939-A587-674246D010D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30149-C1EC-4739-A564-94A9B4404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35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38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51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43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58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65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69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5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4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0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37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8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97A59EB5-A579-4B4A-96F2-3926C69A35B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36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75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3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6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00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8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7A59EB5-A579-4B4A-96F2-3926C69A35B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96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798B-A91E-ED1A-F4C6-5031904AF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722636" cy="2971051"/>
          </a:xfrm>
        </p:spPr>
        <p:txBody>
          <a:bodyPr/>
          <a:lstStyle/>
          <a:p>
            <a:pPr algn="ctr"/>
            <a:r>
              <a:rPr lang="en-US" dirty="0"/>
              <a:t>Introduction to 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1EF6E-E43C-AEED-3DC0-2B9095517F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Abeeha Sattar</a:t>
            </a:r>
          </a:p>
        </p:txBody>
      </p:sp>
    </p:spTree>
    <p:extLst>
      <p:ext uri="{BB962C8B-B14F-4D97-AF65-F5344CB8AC3E}">
        <p14:creationId xmlns:p14="http://schemas.microsoft.com/office/powerpoint/2010/main" val="1913056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17204-A1A9-F372-501D-BA5D2404C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Already Know the Intro…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5977D-BDE6-B2A7-5C11-D67E048CC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But… Let’s go over the goal for the course!</a:t>
            </a:r>
          </a:p>
          <a:p>
            <a:endParaRPr lang="en-US" dirty="0"/>
          </a:p>
          <a:p>
            <a:r>
              <a:rPr lang="en-US" dirty="0"/>
              <a:t>In this course, we’ll be learning…</a:t>
            </a:r>
          </a:p>
          <a:p>
            <a:pPr lvl="1"/>
            <a:r>
              <a:rPr lang="en-US" dirty="0"/>
              <a:t>How to think in an OOP way. (what is the OOP way?)</a:t>
            </a:r>
          </a:p>
          <a:p>
            <a:pPr lvl="1"/>
            <a:r>
              <a:rPr lang="en-US" dirty="0"/>
              <a:t>How to map real world into a program </a:t>
            </a:r>
          </a:p>
          <a:p>
            <a:pPr lvl="1"/>
            <a:r>
              <a:rPr lang="en-US" dirty="0"/>
              <a:t>How to program a real-world scenario.</a:t>
            </a:r>
          </a:p>
        </p:txBody>
      </p:sp>
    </p:spTree>
    <p:extLst>
      <p:ext uri="{BB962C8B-B14F-4D97-AF65-F5344CB8AC3E}">
        <p14:creationId xmlns:p14="http://schemas.microsoft.com/office/powerpoint/2010/main" val="2989423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B50B-96B6-6C59-6766-AE5B2EB95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Paradigms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263C1-07DF-7052-5255-E2057CC2A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Paradigm = a way/method to solve a problem</a:t>
            </a:r>
          </a:p>
          <a:p>
            <a:r>
              <a:rPr lang="en-US" dirty="0"/>
              <a:t>The term </a:t>
            </a:r>
            <a:r>
              <a:rPr lang="en-US" b="1" dirty="0"/>
              <a:t>programming paradigm </a:t>
            </a:r>
            <a:r>
              <a:rPr lang="en-US" dirty="0"/>
              <a:t>is used to specify an overall approach to writing program code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Some languages support multiple programming paradigms; e.g. C++, Python allow you to code in either paradigm.</a:t>
            </a:r>
          </a:p>
          <a:p>
            <a:pPr lvl="1"/>
            <a:r>
              <a:rPr lang="en-US" dirty="0"/>
              <a:t>Let’s have a look at the paradigms…</a:t>
            </a:r>
          </a:p>
        </p:txBody>
      </p:sp>
    </p:spTree>
    <p:extLst>
      <p:ext uri="{BB962C8B-B14F-4D97-AF65-F5344CB8AC3E}">
        <p14:creationId xmlns:p14="http://schemas.microsoft.com/office/powerpoint/2010/main" val="3742207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4D94-9595-C5EC-AF3E-C1E8F416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C0695-78FE-A585-84C6-50F029217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started in PF this way…</a:t>
            </a:r>
          </a:p>
          <a:p>
            <a:r>
              <a:rPr lang="en-US" dirty="0"/>
              <a:t>A sequence of statements is written in order to accomplish a specific activity.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Example: </a:t>
            </a:r>
            <a:r>
              <a:rPr lang="en-US" dirty="0"/>
              <a:t>Write a program to calculate the cube of a number. (</a:t>
            </a:r>
            <a:r>
              <a:rPr lang="en-US" sz="1600" dirty="0"/>
              <a:t>without functions, just main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90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32E22-8664-A7EA-34FB-F9ABFD88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Procedural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6971D-3A1C-877E-F37E-51CFEEB9C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861272"/>
          </a:xfrm>
        </p:spPr>
        <p:txBody>
          <a:bodyPr/>
          <a:lstStyle/>
          <a:p>
            <a:r>
              <a:rPr lang="en-US" dirty="0"/>
              <a:t>You moved to functions somewhere down the line in PF.</a:t>
            </a:r>
          </a:p>
          <a:p>
            <a:r>
              <a:rPr lang="en-US" dirty="0"/>
              <a:t>Functions are also known as procedures.</a:t>
            </a:r>
          </a:p>
          <a:p>
            <a:endParaRPr lang="en-US" dirty="0"/>
          </a:p>
          <a:p>
            <a:r>
              <a:rPr lang="en-US" dirty="0"/>
              <a:t>The </a:t>
            </a:r>
            <a:r>
              <a:rPr lang="en-US" b="1" dirty="0"/>
              <a:t>procedural programming paradigm </a:t>
            </a:r>
            <a:r>
              <a:rPr lang="en-US" dirty="0"/>
              <a:t>is where program code is divided up into </a:t>
            </a:r>
            <a:r>
              <a:rPr lang="en-US" b="1" dirty="0"/>
              <a:t>procedures</a:t>
            </a:r>
            <a:r>
              <a:rPr lang="en-US" dirty="0"/>
              <a:t>.</a:t>
            </a:r>
          </a:p>
          <a:p>
            <a:r>
              <a:rPr lang="en-US" dirty="0"/>
              <a:t>A function is a discrete block of code that carries out a single task.</a:t>
            </a:r>
          </a:p>
          <a:p>
            <a:endParaRPr lang="en-US" dirty="0"/>
          </a:p>
          <a:p>
            <a:r>
              <a:rPr lang="en-US" dirty="0"/>
              <a:t>Now then, write a function that calculates the cube, then call it from main.</a:t>
            </a:r>
          </a:p>
        </p:txBody>
      </p:sp>
    </p:spTree>
    <p:extLst>
      <p:ext uri="{BB962C8B-B14F-4D97-AF65-F5344CB8AC3E}">
        <p14:creationId xmlns:p14="http://schemas.microsoft.com/office/powerpoint/2010/main" val="1390950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40F2-EB6F-B185-3FD4-AAFA7A9A3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Procedural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B0B1A-C3DF-FAE4-2D54-17FC0DF2A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IDK, you tell me…</a:t>
            </a:r>
          </a:p>
          <a:p>
            <a:endParaRPr lang="en-US" dirty="0"/>
          </a:p>
          <a:p>
            <a:r>
              <a:rPr lang="en-US" dirty="0"/>
              <a:t>It makes things:</a:t>
            </a:r>
          </a:p>
          <a:p>
            <a:pPr lvl="1"/>
            <a:r>
              <a:rPr lang="en-US" dirty="0"/>
              <a:t>Easier to reuse – function is in one place, and you may call it in multiple places.</a:t>
            </a:r>
          </a:p>
          <a:p>
            <a:pPr lvl="1"/>
            <a:r>
              <a:rPr lang="en-US" dirty="0"/>
              <a:t>Easier to debug – e.g. complex formula you rewrote in two places and one is wrong… you don’t know which one… better if you had one function.</a:t>
            </a:r>
          </a:p>
          <a:p>
            <a:pPr lvl="1"/>
            <a:r>
              <a:rPr lang="en-US" dirty="0"/>
              <a:t>Easier to manipulate data – you know what arguments you are receiving, which ones you want to modify and which ones you don’t want to modify.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18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647BC-97E5-2793-62BA-C33644A8B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👻 Programming (OOP)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938B9-8773-5614-9D9A-182515D3A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954578"/>
          </a:xfrm>
        </p:spPr>
        <p:txBody>
          <a:bodyPr/>
          <a:lstStyle/>
          <a:p>
            <a:r>
              <a:rPr lang="en-US" dirty="0"/>
              <a:t>It is a </a:t>
            </a:r>
            <a:r>
              <a:rPr lang="en-US" b="1" dirty="0"/>
              <a:t>bottom-up</a:t>
            </a:r>
            <a:r>
              <a:rPr lang="en-US" dirty="0"/>
              <a:t> approach.</a:t>
            </a:r>
          </a:p>
          <a:p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The focus is on identifying and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resolving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smallest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problems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(objects) and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then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integrating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them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together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to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solve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the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bigger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problem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.</a:t>
            </a:r>
          </a:p>
          <a:p>
            <a:endParaRPr lang="en-US" dirty="0">
              <a:solidFill>
                <a:srgbClr val="212529"/>
              </a:solidFill>
              <a:latin typeface="Nunito" pitchFamily="2" charset="0"/>
            </a:endParaRPr>
          </a:p>
          <a:p>
            <a:endParaRPr lang="en-US" dirty="0">
              <a:solidFill>
                <a:srgbClr val="212529"/>
              </a:solidFill>
              <a:latin typeface="Nunito" pitchFamily="2" charset="0"/>
            </a:endParaRPr>
          </a:p>
          <a:p>
            <a:r>
              <a:rPr lang="en-US" dirty="0"/>
              <a:t>Procedural programming languages follows a </a:t>
            </a:r>
            <a:r>
              <a:rPr lang="en-US" b="1" dirty="0"/>
              <a:t>top-down</a:t>
            </a:r>
            <a:r>
              <a:rPr lang="en-US" dirty="0"/>
              <a:t> approach</a:t>
            </a:r>
          </a:p>
          <a:p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The focus is on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breaking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the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bigger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problem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into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smaller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one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and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then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repeat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the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process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with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each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 </a:t>
            </a:r>
            <a:r>
              <a:rPr lang="en-US" b="1" dirty="0">
                <a:solidFill>
                  <a:srgbClr val="212529"/>
                </a:solidFill>
                <a:latin typeface="Nunito" pitchFamily="2" charset="0"/>
              </a:rPr>
              <a:t>problem</a:t>
            </a:r>
            <a:r>
              <a:rPr lang="en-US" dirty="0">
                <a:solidFill>
                  <a:srgbClr val="212529"/>
                </a:solidFill>
                <a:latin typeface="Nunito" pitchFamily="2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2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2AF64-6FBC-F77B-92BA-7094D3A7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AB75C-C963-527D-987A-343FF16B6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Think of a system, and think of what things are interacting with each other.</a:t>
            </a:r>
          </a:p>
          <a:p>
            <a:endParaRPr lang="en-US" dirty="0"/>
          </a:p>
          <a:p>
            <a:r>
              <a:rPr lang="en-US" dirty="0"/>
              <a:t>The classic most example is the ATM – Let’s think!</a:t>
            </a:r>
          </a:p>
          <a:p>
            <a:r>
              <a:rPr lang="en-US" dirty="0"/>
              <a:t>Another one, is a car.</a:t>
            </a:r>
          </a:p>
          <a:p>
            <a:endParaRPr lang="en-US" dirty="0"/>
          </a:p>
          <a:p>
            <a:r>
              <a:rPr lang="en-US" dirty="0"/>
              <a:t>Attributes</a:t>
            </a:r>
          </a:p>
          <a:p>
            <a:r>
              <a:rPr lang="en-US" dirty="0"/>
              <a:t>Behavior (operations)</a:t>
            </a:r>
          </a:p>
          <a:p>
            <a:r>
              <a:rPr lang="en-US" dirty="0"/>
              <a:t>Identity</a:t>
            </a:r>
          </a:p>
        </p:txBody>
      </p:sp>
    </p:spTree>
    <p:extLst>
      <p:ext uri="{BB962C8B-B14F-4D97-AF65-F5344CB8AC3E}">
        <p14:creationId xmlns:p14="http://schemas.microsoft.com/office/powerpoint/2010/main" val="3793200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CD76E-341E-A120-6C04-86E077E80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Object-Orientation -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4BD6A-98A2-5BF0-968D-AC407636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think in terms of objects</a:t>
            </a:r>
          </a:p>
          <a:p>
            <a:r>
              <a:rPr lang="en-US" dirty="0"/>
              <a:t>OO models map to reality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Therefore, OO models are:</a:t>
            </a:r>
          </a:p>
          <a:p>
            <a:r>
              <a:rPr lang="en-US" dirty="0"/>
              <a:t>Easy to develop</a:t>
            </a:r>
          </a:p>
          <a:p>
            <a:r>
              <a:rPr lang="en-US" dirty="0"/>
              <a:t>Easy to understand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03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626E-B808-B851-2EAB-CA2C7D96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this, Object that…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8027E-CCAA-4309-4FD1-B579E073E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But what is an object? Some definitions if you </a:t>
            </a:r>
            <a:r>
              <a:rPr lang="en-US" dirty="0" err="1"/>
              <a:t>wanna</a:t>
            </a:r>
            <a:r>
              <a:rPr lang="en-US" dirty="0"/>
              <a:t> </a:t>
            </a:r>
            <a:r>
              <a:rPr lang="en-US" dirty="0" err="1"/>
              <a:t>ratta</a:t>
            </a:r>
            <a:r>
              <a:rPr lang="en-US" dirty="0"/>
              <a:t>…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An object:</a:t>
            </a:r>
          </a:p>
          <a:p>
            <a:r>
              <a:rPr lang="en-US" dirty="0"/>
              <a:t>Can be anything for which we want to save Information</a:t>
            </a:r>
          </a:p>
          <a:p>
            <a:r>
              <a:rPr lang="en-US" dirty="0"/>
              <a:t>Is something tangible (Person, Car)</a:t>
            </a:r>
          </a:p>
          <a:p>
            <a:r>
              <a:rPr lang="en-US" dirty="0"/>
              <a:t>Is something that can be captured intellectually (Time, Date)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An object has:</a:t>
            </a:r>
          </a:p>
          <a:p>
            <a:r>
              <a:rPr lang="en-US" dirty="0"/>
              <a:t>States / attributes / properties / data</a:t>
            </a:r>
          </a:p>
          <a:p>
            <a:r>
              <a:rPr lang="en-US" dirty="0"/>
              <a:t>Well-defined behavior / methods / functions</a:t>
            </a:r>
          </a:p>
          <a:p>
            <a:r>
              <a:rPr lang="en-US" dirty="0"/>
              <a:t>Unique identity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665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1F0B-DF46-9006-B5BE-827FB26D8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Definition of an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50B48-F413-1677-2CE9-3C96605B1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“An Object is an Instance of a class”</a:t>
            </a:r>
          </a:p>
          <a:p>
            <a:r>
              <a:rPr lang="en-US" dirty="0"/>
              <a:t>“An Object is the implementation of a class”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Any tangible thing for which we want to save Information</a:t>
            </a:r>
          </a:p>
        </p:txBody>
      </p:sp>
    </p:spTree>
    <p:extLst>
      <p:ext uri="{BB962C8B-B14F-4D97-AF65-F5344CB8AC3E}">
        <p14:creationId xmlns:p14="http://schemas.microsoft.com/office/powerpoint/2010/main" val="2837825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Example: Airplane</a:t>
            </a:r>
          </a:p>
        </p:txBody>
      </p:sp>
      <p:pic>
        <p:nvPicPr>
          <p:cNvPr id="1026" name="Picture 2" descr="No more airplane mode? EU to allow calls on flights - BBC News">
            <a:extLst>
              <a:ext uri="{FF2B5EF4-FFF2-40B4-BE49-F238E27FC236}">
                <a16:creationId xmlns:a16="http://schemas.microsoft.com/office/drawing/2014/main" id="{0DFE5D46-CDB2-73B1-0D79-419BBBE64A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46" y="2883996"/>
            <a:ext cx="3578666" cy="201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new aircraft, routes and airplane cabins taking off in 2023 | CNN">
            <a:extLst>
              <a:ext uri="{FF2B5EF4-FFF2-40B4-BE49-F238E27FC236}">
                <a16:creationId xmlns:a16="http://schemas.microsoft.com/office/drawing/2014/main" id="{F550429A-AAAD-B1A1-58E5-57B109B2E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717" y="2883996"/>
            <a:ext cx="3578667" cy="201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747: How the world fell in love with the jumbo jet, Queen of the Skies |  Stuff.co.nz">
            <a:extLst>
              <a:ext uri="{FF2B5EF4-FFF2-40B4-BE49-F238E27FC236}">
                <a16:creationId xmlns:a16="http://schemas.microsoft.com/office/drawing/2014/main" id="{447F4DB7-7AFA-90AA-1DE1-4F4D09B46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614" y="2883996"/>
            <a:ext cx="3576103" cy="201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332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Example: Fish</a:t>
            </a:r>
          </a:p>
        </p:txBody>
      </p:sp>
      <p:pic>
        <p:nvPicPr>
          <p:cNvPr id="2050" name="Picture 2" descr="900+ Fish Background Images: Download HD Backgrounds on Unsplash">
            <a:extLst>
              <a:ext uri="{FF2B5EF4-FFF2-40B4-BE49-F238E27FC236}">
                <a16:creationId xmlns:a16="http://schemas.microsoft.com/office/drawing/2014/main" id="{BE963EE5-6E0B-D37B-C1BC-EE5E79D563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00" y="2974225"/>
            <a:ext cx="3196788" cy="2279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ish Have Feelings, Too: The Inner Lives Of Our 'Underwater Cousins' : The  Salt : NPR">
            <a:extLst>
              <a:ext uri="{FF2B5EF4-FFF2-40B4-BE49-F238E27FC236}">
                <a16:creationId xmlns:a16="http://schemas.microsoft.com/office/drawing/2014/main" id="{4E4EF621-5908-F048-A138-4AC513D5A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788" y="2974225"/>
            <a:ext cx="4057559" cy="227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hark | Species | WWF">
            <a:extLst>
              <a:ext uri="{FF2B5EF4-FFF2-40B4-BE49-F238E27FC236}">
                <a16:creationId xmlns:a16="http://schemas.microsoft.com/office/drawing/2014/main" id="{3F226C1D-4A92-5820-2791-3598883ECF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7" b="31833"/>
          <a:stretch/>
        </p:blipFill>
        <p:spPr bwMode="auto">
          <a:xfrm>
            <a:off x="8064347" y="2974225"/>
            <a:ext cx="3316078" cy="227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5739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Example: Bird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9270D5-6C56-83BB-95C5-A88D5F42E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244" y="2795789"/>
            <a:ext cx="2863067" cy="21555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826898-7EF6-CC8D-D08C-E250FC8689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755" y="2795789"/>
            <a:ext cx="3388489" cy="2150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12FB72-8FE5-C1E6-F273-C40399C302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822" y="2791700"/>
            <a:ext cx="2462786" cy="215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218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EDF68-8A2B-1E04-25DF-73582BC5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in the previous examples…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221A6-6156-F652-7099-E8AF85BFC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different types shown? Are they a class or are they an object?</a:t>
            </a:r>
          </a:p>
        </p:txBody>
      </p:sp>
    </p:spTree>
    <p:extLst>
      <p:ext uri="{BB962C8B-B14F-4D97-AF65-F5344CB8AC3E}">
        <p14:creationId xmlns:p14="http://schemas.microsoft.com/office/powerpoint/2010/main" val="3558428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EBBE8-849E-5AEE-7163-D6A48B284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4E144-C080-AFD8-08DC-927042C0C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class is:</a:t>
            </a:r>
          </a:p>
          <a:p>
            <a:r>
              <a:rPr lang="en-US" dirty="0"/>
              <a:t>A collection of similar objects. </a:t>
            </a:r>
          </a:p>
          <a:p>
            <a:r>
              <a:rPr lang="en-US" dirty="0"/>
              <a:t>The design of an object.</a:t>
            </a:r>
          </a:p>
          <a:p>
            <a:r>
              <a:rPr lang="en-US" dirty="0"/>
              <a:t>Details of an object.</a:t>
            </a:r>
          </a:p>
          <a:p>
            <a:r>
              <a:rPr lang="en-US" dirty="0"/>
              <a:t>Tells us what an object contains.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927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D4A50-CEB8-6722-5132-38C782B2C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might also see these terminologies…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1326B-6A29-8BE0-AC46-7F52D8A04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class :</a:t>
            </a:r>
          </a:p>
          <a:p>
            <a:r>
              <a:rPr lang="en-US" dirty="0"/>
              <a:t>It’s a blue print .</a:t>
            </a:r>
          </a:p>
          <a:p>
            <a:r>
              <a:rPr lang="en-US" dirty="0"/>
              <a:t>It’s a design or template.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An Object:</a:t>
            </a:r>
          </a:p>
          <a:p>
            <a:r>
              <a:rPr lang="en-US" dirty="0"/>
              <a:t>It’s an instance of a class.</a:t>
            </a:r>
          </a:p>
          <a:p>
            <a:r>
              <a:rPr lang="en-US" dirty="0"/>
              <a:t>Implementation of a class.</a:t>
            </a:r>
          </a:p>
          <a:p>
            <a:endParaRPr lang="en-US" dirty="0"/>
          </a:p>
          <a:p>
            <a:r>
              <a:rPr lang="en-US" dirty="0"/>
              <a:t>NOTE: Classes are invisible, object are visible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213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CE8D-85C0-AF72-5EBE-09E9E2B3D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of Stuff as Classes and Objects…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BEB7C-00A7-82D0-2742-8CEF7B7D6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0478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(Home Tasks) – As discussed, think of </a:t>
            </a:r>
            <a:r>
              <a:rPr lang="en-US" b="1" dirty="0"/>
              <a:t>attributes</a:t>
            </a:r>
            <a:r>
              <a:rPr lang="en-US" dirty="0"/>
              <a:t>, </a:t>
            </a:r>
            <a:r>
              <a:rPr lang="en-US" b="1" dirty="0"/>
              <a:t>functionalities</a:t>
            </a:r>
            <a:r>
              <a:rPr lang="en-US" dirty="0"/>
              <a:t> and </a:t>
            </a:r>
            <a:r>
              <a:rPr lang="en-US" b="1" dirty="0"/>
              <a:t>unique</a:t>
            </a:r>
            <a:r>
              <a:rPr lang="en-US" dirty="0"/>
              <a:t> </a:t>
            </a:r>
            <a:r>
              <a:rPr lang="en-US" b="1" dirty="0"/>
              <a:t>identities</a:t>
            </a:r>
            <a:r>
              <a:rPr lang="en-US" dirty="0"/>
              <a:t>. What will their objects be? Come but with 3, minimum.</a:t>
            </a:r>
          </a:p>
          <a:p>
            <a:endParaRPr lang="en-US" dirty="0"/>
          </a:p>
          <a:p>
            <a:r>
              <a:rPr lang="en-US" dirty="0"/>
              <a:t>Smartphones</a:t>
            </a:r>
          </a:p>
          <a:p>
            <a:r>
              <a:rPr lang="en-US" dirty="0"/>
              <a:t>Washing Machine (automatic)</a:t>
            </a:r>
          </a:p>
          <a:p>
            <a:endParaRPr lang="en-US" dirty="0"/>
          </a:p>
          <a:p>
            <a:r>
              <a:rPr lang="en-US" dirty="0"/>
              <a:t>Student</a:t>
            </a:r>
          </a:p>
          <a:p>
            <a:r>
              <a:rPr lang="en-US" dirty="0"/>
              <a:t>Cat</a:t>
            </a:r>
          </a:p>
          <a:p>
            <a:endParaRPr lang="en-US" dirty="0"/>
          </a:p>
          <a:p>
            <a:r>
              <a:rPr lang="en-US" dirty="0"/>
              <a:t>Videogame Character</a:t>
            </a:r>
          </a:p>
          <a:p>
            <a:r>
              <a:rPr lang="en-US" dirty="0"/>
              <a:t>Netflix Account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C6F007-C7E8-091D-5DAD-80A7ED3C3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17" b="19427"/>
          <a:stretch>
            <a:fillRect/>
          </a:stretch>
        </p:blipFill>
        <p:spPr>
          <a:xfrm flipH="1">
            <a:off x="6095999" y="2982174"/>
            <a:ext cx="4473640" cy="328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017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499D2-0AD6-2ADA-52CC-7B16A184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OOP (An Intro)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69E9A-592F-8A23-B8E9-68691D174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Abstraction</a:t>
            </a:r>
            <a:r>
              <a:rPr lang="en-US" dirty="0"/>
              <a:t>: To have the relevant information.</a:t>
            </a:r>
          </a:p>
          <a:p>
            <a:r>
              <a:rPr lang="en-US" b="1" dirty="0"/>
              <a:t>Encapsulation</a:t>
            </a:r>
            <a:r>
              <a:rPr lang="en-US" dirty="0"/>
              <a:t>: To hide information inside the object.</a:t>
            </a:r>
          </a:p>
          <a:p>
            <a:r>
              <a:rPr lang="en-US" b="1" dirty="0"/>
              <a:t>Polymorphism</a:t>
            </a:r>
            <a:r>
              <a:rPr lang="en-US" dirty="0"/>
              <a:t>: To have many shapes / behaviors.</a:t>
            </a:r>
          </a:p>
          <a:p>
            <a:r>
              <a:rPr lang="en-US" b="1" dirty="0"/>
              <a:t>Inheritance</a:t>
            </a:r>
            <a:r>
              <a:rPr lang="en-US" dirty="0"/>
              <a:t>: To create a new object with an existing one (To adopt features from others)</a:t>
            </a:r>
          </a:p>
        </p:txBody>
      </p:sp>
    </p:spTree>
    <p:extLst>
      <p:ext uri="{BB962C8B-B14F-4D97-AF65-F5344CB8AC3E}">
        <p14:creationId xmlns:p14="http://schemas.microsoft.com/office/powerpoint/2010/main" val="869312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2A46D-141E-626D-7CDB-02BB5022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3217DD-A05D-89B0-388C-9092F1EA8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9274628" y="5122581"/>
            <a:ext cx="419879" cy="447796"/>
          </a:xfrm>
        </p:spPr>
        <p:txBody>
          <a:bodyPr/>
          <a:lstStyle/>
          <a:p>
            <a:r>
              <a:rPr lang="en-US" dirty="0"/>
              <a:t>:D</a:t>
            </a:r>
          </a:p>
        </p:txBody>
      </p:sp>
    </p:spTree>
    <p:extLst>
      <p:ext uri="{BB962C8B-B14F-4D97-AF65-F5344CB8AC3E}">
        <p14:creationId xmlns:p14="http://schemas.microsoft.com/office/powerpoint/2010/main" val="30375972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Custom 1">
      <a:dk1>
        <a:srgbClr val="212121"/>
      </a:dk1>
      <a:lt1>
        <a:srgbClr val="212121"/>
      </a:lt1>
      <a:dk2>
        <a:srgbClr val="F2F2F2"/>
      </a:dk2>
      <a:lt2>
        <a:srgbClr val="636363"/>
      </a:lt2>
      <a:accent1>
        <a:srgbClr val="843AAB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002060"/>
      </a:hlink>
      <a:folHlink>
        <a:srgbClr val="0070C0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1167</TotalTime>
  <Words>776</Words>
  <Application>Microsoft Office PowerPoint</Application>
  <PresentationFormat>Widescreen</PresentationFormat>
  <Paragraphs>120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Century Gothic</vt:lpstr>
      <vt:lpstr>Nunito</vt:lpstr>
      <vt:lpstr>Wingdings 2</vt:lpstr>
      <vt:lpstr>Quotable</vt:lpstr>
      <vt:lpstr>Introduction to Object-Oriented Programming</vt:lpstr>
      <vt:lpstr>You Already Know the Intro…</vt:lpstr>
      <vt:lpstr>Programming Paradigms</vt:lpstr>
      <vt:lpstr>Sequential Programming</vt:lpstr>
      <vt:lpstr>Procedural Programming</vt:lpstr>
      <vt:lpstr>Benefits of Procedural Programming</vt:lpstr>
      <vt:lpstr>Object-Oriented 👻 Programming (OOP)</vt:lpstr>
      <vt:lpstr>Object Orientation</vt:lpstr>
      <vt:lpstr>Object-Orientation - Advantages</vt:lpstr>
      <vt:lpstr>Object this, Object that…</vt:lpstr>
      <vt:lpstr>Technical Definition of an Object</vt:lpstr>
      <vt:lpstr>Object Example: Airplane</vt:lpstr>
      <vt:lpstr>Object Example: Fish</vt:lpstr>
      <vt:lpstr>Object Example: Bird</vt:lpstr>
      <vt:lpstr>So, in the previous examples…</vt:lpstr>
      <vt:lpstr>Class</vt:lpstr>
      <vt:lpstr>You might also see these terminologies…</vt:lpstr>
      <vt:lpstr>Thinking of Stuff as Classes and Objects…</vt:lpstr>
      <vt:lpstr>Principles of OOP (An Intro)</vt:lpstr>
      <vt:lpstr>Fin.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Abeeha Sattar</dc:creator>
  <cp:lastModifiedBy>Abeeha Sattar</cp:lastModifiedBy>
  <cp:revision>41</cp:revision>
  <dcterms:created xsi:type="dcterms:W3CDTF">2026-01-19T10:14:09Z</dcterms:created>
  <dcterms:modified xsi:type="dcterms:W3CDTF">2026-01-22T07:45:52Z</dcterms:modified>
</cp:coreProperties>
</file>